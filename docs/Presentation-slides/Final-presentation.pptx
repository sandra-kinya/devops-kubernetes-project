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media13.mp4" ContentType="video/mp4"/>
  <Override PartName="/ppt/media/media7.mp4" ContentType="video/mp4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D89E0D4-71D7-4225-B1C3-5DE9E13F7A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Flask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to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local k3s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package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with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Helm,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monitore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with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Prometh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eus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Grafana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plus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several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addition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 tasks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beyond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base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require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A1DD98-89B2-402B-9AC9-2944D20808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Sprint 1 established the working foundation — app, image, chart. Sprint 2 hardened it with Ingress, security context, and probes. Sprint 3 added the full observability layer plus every additional task: Docker Hub, UAT, dynamic environments, SBOM, and workflow automation.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CCE254-A4DE-4234-BCDD-A6C7D94F65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base assignment required four things — all delivered. Beyond that, twelve additional tasks were completed: from security hardening and persistent storage to multi-environment deployment and vulnerability scanning.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F9A2BA-4CE6-41A4-8BE2-1FC5D66086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full architecture diagram already committed to the repo README — covering the build pipeline, cluster internals, and the observability layer in one view.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0A66D8-A042-4812-933D-40C7D411F2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/metrics route required an explicit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text/plain Content-Type — Flask defaults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text/html, which Prometheus rejected as an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unsupported content type until fixed.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0674C0-5516-47F7-810E-ACDA65BD97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Nine files, each with one job. _helpers.tpl 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piece most worth explaining — Helm's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include function only works because this file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defines the naming logic, which is what kept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Deployment, Service, and Ingress names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consistent throughout the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192747-983C-482E-8CE7-23E1BD8B26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k3s bundles control-plane and worker onto one node. Traefik ships as k3s's default Ingress — the hostname was later parameterized to support UAT without duplicating the chart.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5A197D-94AC-41CB-923D-A01362B63F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Helm install brings in Prometheus, Grafana, Alertmanager, and exporters. Persistence was added afterward as an optional task, once it became clear the default storage was ephemeral.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52253F-5FA9-4853-9F39-82B9BBF7B6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debugging story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worth telling: 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ServiceMonitor matches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Service's own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labels, not its pod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selector — that gap cost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most time to find.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alert was proven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to end, not just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installed.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134B93-8D55-4EAC-B582-28B5C5B84F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 panels, all PromQL-driven, live during the demo — Pod Restarts and Running Pods are the two that visibly react during self-healing and scaling tests.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EE1488-7C40-4BF1-A372-915D0CE214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Self-healing was tested with 2 replicas. The full Helm lifecycle — upgrade, rollback, uninstall, reinstall — was practiced and recorded, not just the initial install.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1B7A4F-82E8-4413-91FA-6C44C6B5F4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&lt;id&gt; is a real PR number when available; in a real CI pipeline this would be injected automatically. The same chart drives all three environment shapes, differing only by values file and namespace.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BDF0E3-72B0-4A6A-A2CF-2158B84AA2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shifts the project from a local-only workflow to a real cloud delivery pattern. pullPolicy IfNotPresent is the switch that makes it real — Kubernetes reaches out to the registry instead of trusting only local cache.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F86A52-2802-4629-9706-7AF766BFBC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SBOM generation is inventory, not a full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audit — it documents exactly what's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inside the image. The challenges list is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deliberately the ones that took the most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time to diagnose, each with a one-line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root cause.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557D8B-0E84-40F2-8818-6C4A7432CC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Non-root execution required a matching Dockerfile change (useradd). Probes give Kubernetes a real signal of app health, not just process-alive. Resource limits protect the monitoring stack from being starved by the app.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04F1A1-1C6F-4B37-AA65-47D4EE08E5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was the one piece of platform-engineering feedback adopted directly: a Makefile wraps the existing manual command sequences into single targets, without adopting Tilt or restructuring the repository — same benefit, no new tooling to learn or document.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AC2DD2-DAF5-4B2D-B04A-8E95CA9688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was the one piece of platform-engineering feedback adopted directly: a Makefile wraps the existing manual command sequences into single targets, without adopting Tilt or restructuring the repository — same benefit, no new tooling to learn or document.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979C10-620E-4838-8258-5BD86857A8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ctl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ak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pti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973B31-45B7-4014-98DD-83927E068D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external platform-engineering feedback received on the project — genuinely valuable direction, kept deliberately out of scope for this submission except for the Makefile, which was adopted directly without requiring new tools or a repo rewrite.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BA20C0-58EF-45BA-ADBB-84EBBC8804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7A9203-8EB5-4711-A154-EBEE4756C5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8032658-C52F-4B92-A5E6-6E3A2EBAF3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video" Target="../media/media7.mp4"/><Relationship Id="rId2" Type="http://schemas.microsoft.com/office/2007/relationships/media" Target="../media/media7.mp4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video" Target="../media/media13.mp4"/><Relationship Id="rId2" Type="http://schemas.microsoft.com/office/2007/relationships/media" Target="../media/media13.mp4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9418320" y="-1645920"/>
            <a:ext cx="4570920" cy="4570920"/>
          </a:xfrm>
          <a:prstGeom prst="ellipse">
            <a:avLst/>
          </a:prstGeom>
          <a:solidFill>
            <a:srgbClr val="065A82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-1371600" y="4754880"/>
            <a:ext cx="3656520" cy="3656520"/>
          </a:xfrm>
          <a:prstGeom prst="ellipse">
            <a:avLst/>
          </a:prstGeom>
          <a:solidFill>
            <a:srgbClr val="1C7293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822960" y="1737360"/>
            <a:ext cx="9142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TCS DEVOPS </a:t>
            </a:r>
            <a:r>
              <a:rPr lang="en-US" sz="1400" b="1" u="none" spc="201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INTERNSHIP </a:t>
            </a:r>
            <a:r>
              <a:rPr lang="en-US" sz="1400" b="1" u="none" spc="201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2025 · FINAL </a:t>
            </a:r>
            <a:r>
              <a:rPr lang="en-US" sz="1400" b="1" u="none" spc="201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PRESENTATION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822960" y="2194560"/>
            <a:ext cx="98744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4201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j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 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: 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l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y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i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n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g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a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n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a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o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K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3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 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l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u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</a:t>
            </a:r>
            <a:r>
              <a:rPr lang="en-US" sz="3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.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822960" y="4023360"/>
            <a:ext cx="100573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Flask app → Helm → k3s → Prometheus &amp; Grafana, with Docker Hub delivery and </a:t>
            </a:r>
            <a:r>
              <a:rPr lang="en-US" sz="13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multi-environment support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822960" y="4709160"/>
            <a:ext cx="2011680" cy="360"/>
          </a:xfrm>
          <a:prstGeom prst="line">
            <a:avLst/>
          </a:prstGeom>
          <a:ln w="31750">
            <a:solidFill>
              <a:srgbClr val="F29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822960" y="59436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4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y  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822960" y="626364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Repo: tcsdevopsintern/Sandra_tcs-devop-project-C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8"/>
          <p:cNvSpPr/>
          <p:nvPr/>
        </p:nvSpPr>
        <p:spPr>
          <a:xfrm>
            <a:off x="-1828800" y="-1828800"/>
            <a:ext cx="4570920" cy="4570920"/>
          </a:xfrm>
          <a:prstGeom prst="ellipse">
            <a:avLst/>
          </a:prstGeom>
          <a:solidFill>
            <a:srgbClr val="065A82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9"/>
          <p:cNvSpPr/>
          <p:nvPr/>
        </p:nvSpPr>
        <p:spPr>
          <a:xfrm>
            <a:off x="640080" y="411480"/>
            <a:ext cx="10514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Deliverables Across Sprints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4"/>
          <p:cNvSpPr/>
          <p:nvPr/>
        </p:nvSpPr>
        <p:spPr>
          <a:xfrm>
            <a:off x="548640" y="1198440"/>
            <a:ext cx="3610800" cy="531144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5"/>
          <p:cNvSpPr/>
          <p:nvPr/>
        </p:nvSpPr>
        <p:spPr>
          <a:xfrm>
            <a:off x="731520" y="1218960"/>
            <a:ext cx="3245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Sprint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7"/>
          <p:cNvSpPr/>
          <p:nvPr/>
        </p:nvSpPr>
        <p:spPr>
          <a:xfrm>
            <a:off x="731520" y="1386000"/>
            <a:ext cx="32450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Installation, App Running &amp; Helm charts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8"/>
          <p:cNvSpPr/>
          <p:nvPr/>
        </p:nvSpPr>
        <p:spPr>
          <a:xfrm>
            <a:off x="731520" y="1818000"/>
            <a:ext cx="3245040" cy="45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Installed k3s and Helm; verified cluster with kubectl get nodes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Built Flask app (app.py) with / and /metrics routes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Created Dockerfile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Created Helm chart: Chart.yaml, values.yaml, _helpers.tpl, deployment.yaml, service.yaml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Deployed the app via kubectl port-forward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Added ingress.yaml with Traefik annotation, exposed app via demo.local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Added ConfigMap for configurable app greeting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Practiced full Helm lifecycle: upgrade, rollback, uninstall, reinstall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9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Added CPU/memory requests and limits to protect other workloads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6"/>
          <p:cNvSpPr/>
          <p:nvPr/>
        </p:nvSpPr>
        <p:spPr>
          <a:xfrm>
            <a:off x="4343400" y="1234440"/>
            <a:ext cx="3610800" cy="527544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9"/>
          <p:cNvSpPr/>
          <p:nvPr/>
        </p:nvSpPr>
        <p:spPr>
          <a:xfrm>
            <a:off x="4526280" y="1218960"/>
            <a:ext cx="3245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Sprint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0"/>
          <p:cNvSpPr/>
          <p:nvPr/>
        </p:nvSpPr>
        <p:spPr>
          <a:xfrm>
            <a:off x="4526280" y="1422000"/>
            <a:ext cx="32450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Monitoring &amp; Docker hub(Optional)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1"/>
          <p:cNvSpPr/>
          <p:nvPr/>
        </p:nvSpPr>
        <p:spPr>
          <a:xfrm>
            <a:off x="4526280" y="1456560"/>
            <a:ext cx="3245040" cy="494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Installed kube-prometheus-stack (Prometheus, Grafana, Alertmanager) in a dedicated monitoring namespace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Setup ServiceMonitor to scrape the app's /metrics endpoint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Built Grafana dashboards: custom metric, request rate, CPU/memory, pod restarts, running pods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Created and tested PrometheusRule alert (Inactive → Pending → Firing)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Added persistent storage (PVCs) for Prometheus and Grafana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Created a secret for grafana credentials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Pushed image to Docker Hub.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Set up cluster to pull from the cloud registry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7"/>
          <p:cNvSpPr/>
          <p:nvPr/>
        </p:nvSpPr>
        <p:spPr>
          <a:xfrm>
            <a:off x="8138160" y="1254960"/>
            <a:ext cx="3610800" cy="51451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2"/>
          <p:cNvSpPr/>
          <p:nvPr/>
        </p:nvSpPr>
        <p:spPr>
          <a:xfrm>
            <a:off x="8321040" y="1254960"/>
            <a:ext cx="3245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994A"/>
                </a:solidFill>
                <a:effectLst/>
                <a:uFillTx/>
                <a:latin typeface="Calibri"/>
                <a:ea typeface="Calibri"/>
              </a:rPr>
              <a:t>Sprint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3"/>
          <p:cNvSpPr/>
          <p:nvPr/>
        </p:nvSpPr>
        <p:spPr>
          <a:xfrm>
            <a:off x="8321040" y="1458000"/>
            <a:ext cx="32450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Optional tasks: uat env, Makefile &amp; fine tuning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4"/>
          <p:cNvSpPr/>
          <p:nvPr/>
        </p:nvSpPr>
        <p:spPr>
          <a:xfrm>
            <a:off x="8321040" y="1494000"/>
            <a:ext cx="3245040" cy="49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Wrote a script which creates a new namespace, deploys app &amp; cleans up uat env. </a:t>
            </a: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(D</a:t>
            </a: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ynamic per-PR uat environment using NodePort-based)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Added an environment filter to grafana dashboard so that it is possible to toggle </a:t>
            </a: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between dev and UAT views.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Exported Grafana dashboards as JSON, stored them in Git, and provisioned them </a:t>
            </a: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through a ConfigMap.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Created a Makefile to wrap a sequence of manual commands into single commands </a:t>
            </a: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(Improving automation)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Generated SBOM report via Trivy (CycloneDX format)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Added pod and container security: run as non-root, and disable privilege escalation.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2A3A"/>
              </a:buClr>
              <a:buFont typeface="OpenSymbol"/>
              <a:buChar char="✓"/>
            </a:pPr>
            <a:r>
              <a:rPr lang="en-US" sz="100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Added liveness and readiness probes.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5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6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Project deliverables: </a:t>
            </a: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Required vs Delivered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Base project scope, fully met, plus additional tasks completed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48640" y="1371600"/>
            <a:ext cx="11063160" cy="159912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777240" y="1508760"/>
            <a:ext cx="5485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Required Deliverables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777240" y="1874520"/>
            <a:ext cx="318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9E6E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1097280" y="1874520"/>
            <a:ext cx="4890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Functional k3s cluster (single node, control-plane + worker)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6263640" y="1874520"/>
            <a:ext cx="318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9E6E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6583680" y="1874520"/>
            <a:ext cx="4890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App accessible via Ingress (Traefik, demo.local) and kubectl port-forward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777240" y="2404800"/>
            <a:ext cx="318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9E6E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1097280" y="2404800"/>
            <a:ext cx="4890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Multi-container-ready app deployed via Helm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6263640" y="2404800"/>
            <a:ext cx="318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9E6E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6583680" y="2404800"/>
            <a:ext cx="4890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3A"/>
                </a:solidFill>
                <a:effectLst/>
                <a:uFillTx/>
                <a:latin typeface="Calibri"/>
                <a:ea typeface="Calibri"/>
              </a:rPr>
              <a:t>Grafana dashboards for app metrics and container/cluster resource usage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548640" y="3154680"/>
            <a:ext cx="73141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Optional /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Additional Tasks </a:t>
            </a:r>
            <a:r>
              <a:rPr lang="en-US" sz="13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Delivered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548640" y="352044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640080" y="357516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ConfigMap for dynamic app greeting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3383280" y="352044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3474720" y="357516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6217920" y="352044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6309360" y="357516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Prometheus alert rule (PrometheusRule) tested live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9052560" y="352044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9144000" y="357516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Persistent storage (PVCs) for Prometheus &amp; Grafana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548640" y="417888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640080" y="423360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Pod/container security context (non-root, disable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privilege escalation)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539280" y="483660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5"/>
          <p:cNvSpPr/>
          <p:nvPr/>
        </p:nvSpPr>
        <p:spPr>
          <a:xfrm>
            <a:off x="6217920" y="417888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6309360" y="423360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CPU/memory requests &amp; limits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7"/>
          <p:cNvSpPr/>
          <p:nvPr/>
        </p:nvSpPr>
        <p:spPr>
          <a:xfrm>
            <a:off x="9052560" y="417888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8"/>
          <p:cNvSpPr/>
          <p:nvPr/>
        </p:nvSpPr>
        <p:spPr>
          <a:xfrm>
            <a:off x="9144000" y="423360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UAT environment (separate namespace + values file)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1"/>
          <p:cNvSpPr/>
          <p:nvPr/>
        </p:nvSpPr>
        <p:spPr>
          <a:xfrm>
            <a:off x="3383280" y="483732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2"/>
          <p:cNvSpPr/>
          <p:nvPr/>
        </p:nvSpPr>
        <p:spPr>
          <a:xfrm>
            <a:off x="3474720" y="489204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SBOM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report via Trivy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(CycloneDX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format)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3"/>
          <p:cNvSpPr/>
          <p:nvPr/>
        </p:nvSpPr>
        <p:spPr>
          <a:xfrm>
            <a:off x="6217920" y="483732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4"/>
          <p:cNvSpPr/>
          <p:nvPr/>
        </p:nvSpPr>
        <p:spPr>
          <a:xfrm>
            <a:off x="6309360" y="489204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Full Helm lifecycle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tested 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(upgrade/rollback/uninst</a:t>
            </a: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all)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5"/>
          <p:cNvSpPr/>
          <p:nvPr/>
        </p:nvSpPr>
        <p:spPr>
          <a:xfrm>
            <a:off x="9052560" y="483732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6"/>
          <p:cNvSpPr/>
          <p:nvPr/>
        </p:nvSpPr>
        <p:spPr>
          <a:xfrm>
            <a:off x="9144000" y="489204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Resource utilization checks (kubectl top)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7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8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539280" y="549756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49800" y="5668920"/>
            <a:ext cx="25106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Created a make file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9"/>
          <p:cNvSpPr/>
          <p:nvPr/>
        </p:nvSpPr>
        <p:spPr>
          <a:xfrm>
            <a:off x="3393000" y="4197960"/>
            <a:ext cx="2696400" cy="56592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0"/>
          <p:cNvSpPr/>
          <p:nvPr/>
        </p:nvSpPr>
        <p:spPr>
          <a:xfrm>
            <a:off x="3473640" y="4258440"/>
            <a:ext cx="2513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Dynamic uat environment script (NodePort)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49800" y="5019120"/>
            <a:ext cx="17380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8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Liveness &amp; readiness probes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Project Architecture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Full pipeline: source → build → registry → cluster → observability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48640" y="5989320"/>
            <a:ext cx="1106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Diagram covers: GitHub → Docker build → Docker Hub → k3s cluster (Helm-managed Deployment, Service, Ingress) → Prometheus/Grafana → dev/UAT/dynamic environments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4572000" y="20880"/>
            <a:ext cx="5091840" cy="615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Docker &amp; </a:t>
            </a: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Containerization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Flask app packaged into a minimal, non-root container image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548640" y="1417320"/>
            <a:ext cx="5576760" cy="301644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713160" y="15454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914400" y="15454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1115640" y="15454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749880" y="1801440"/>
            <a:ext cx="5174280" cy="25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FROM python:3.12-slim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WORKDIR /app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COPY app/app.py 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RUN pip install flask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EXPOSE 8085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2C572"/>
                </a:solidFill>
                <a:effectLst/>
                <a:uFillTx/>
                <a:latin typeface="Courier New"/>
                <a:ea typeface="Courier New"/>
              </a:rPr>
              <a:t>RUN useradd -m appuser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2C572"/>
                </a:solidFill>
                <a:effectLst/>
                <a:uFillTx/>
                <a:latin typeface="Courier New"/>
                <a:ea typeface="Courier New"/>
              </a:rPr>
              <a:t>USER appuser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CMD ["python", "app.py"]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548640" y="4572000"/>
            <a:ext cx="5485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Dockerfile — non-root user added for k8s security context </a:t>
            </a:r>
            <a:r>
              <a:rPr lang="en-US" sz="100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compatibility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6400800" y="1417320"/>
            <a:ext cx="5211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app.py — key routes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6400800" y="1737360"/>
            <a:ext cx="5211000" cy="196488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6565320" y="186552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6766560" y="186552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6967800" y="186552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6602040" y="2121480"/>
            <a:ext cx="4808520" cy="14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GREETING = os.environ.get(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'APP_GREETING', 'Hello...')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request_count = 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@app.route('/metrics')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AA7B4"/>
                </a:solidFill>
                <a:effectLst/>
                <a:uFillTx/>
                <a:latin typeface="Courier New"/>
                <a:ea typeface="Courier New"/>
              </a:rPr>
              <a:t># returns text/plain,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AA7B4"/>
                </a:solidFill>
                <a:effectLst/>
                <a:uFillTx/>
                <a:latin typeface="Courier New"/>
                <a:ea typeface="Courier New"/>
              </a:rPr>
              <a:t># demo_app_custom_metric 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6400800" y="3840480"/>
            <a:ext cx="5211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Every request to / increments request_count — makes the custom </a:t>
            </a:r>
            <a:r>
              <a:rPr lang="en-US" sz="1000" b="1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metric dynamic</a:t>
            </a:r>
            <a:r>
              <a:rPr lang="en-US" sz="100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, not static.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6400800" y="4343400"/>
            <a:ext cx="5211000" cy="105048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6602040" y="4489560"/>
            <a:ext cx="4808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docker build -t demo-app:v.1.0 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Helm Chart Structure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charts/demo-app/ — one values file, one naming source, eight templates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48640" y="1417320"/>
            <a:ext cx="2394720" cy="867600"/>
          </a:xfrm>
          <a:prstGeom prst="rect">
            <a:avLst/>
          </a:prstGeom>
          <a:solidFill>
            <a:srgbClr val="EAF0F4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649080" y="148140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Chart.yaml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649080" y="176472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Defines the chart identity, name, and version information.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3081600" y="1417320"/>
            <a:ext cx="2394720" cy="867600"/>
          </a:xfrm>
          <a:prstGeom prst="rect">
            <a:avLst/>
          </a:prstGeom>
          <a:solidFill>
            <a:srgbClr val="EAF0F4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3182040" y="148140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values.yaml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3182040" y="176472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Stores the configurable settings used across the Helm chart. 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5614560" y="1417320"/>
            <a:ext cx="2394720" cy="867600"/>
          </a:xfrm>
          <a:prstGeom prst="rect">
            <a:avLst/>
          </a:prstGeom>
          <a:solidFill>
            <a:srgbClr val="EAF0F4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5715000" y="148140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_helpers.tpl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5715000" y="176472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Provides reusable naming templates for consistent Kubernetes resource names.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8147160" y="1417320"/>
            <a:ext cx="2394720" cy="867600"/>
          </a:xfrm>
          <a:prstGeom prst="rect">
            <a:avLst/>
          </a:prstGeom>
          <a:solidFill>
            <a:srgbClr val="EAF0F4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8247960" y="148140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deployment.yaml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8247960" y="176472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Defines the application Pods, container image, resources, probes, and security settings.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548640" y="2414160"/>
            <a:ext cx="2394720" cy="86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649080" y="247788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service.yaml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649080" y="276156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Exposes the application internally through a 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Kubernetes Service.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3081600" y="2414160"/>
            <a:ext cx="2394720" cy="86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3182040" y="247788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ingress.yaml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3182040" y="276156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Provides external access to the application through the demo.local host.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5614560" y="2414160"/>
            <a:ext cx="2394720" cy="86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5715000" y="247788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configmap.yaml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2"/>
          <p:cNvSpPr/>
          <p:nvPr/>
        </p:nvSpPr>
        <p:spPr>
          <a:xfrm>
            <a:off x="5715000" y="276156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Stores non sensitive application configuration such as APP_GREETING.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3"/>
          <p:cNvSpPr/>
          <p:nvPr/>
        </p:nvSpPr>
        <p:spPr>
          <a:xfrm>
            <a:off x="8147160" y="2414160"/>
            <a:ext cx="2394720" cy="86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4"/>
          <p:cNvSpPr/>
          <p:nvPr/>
        </p:nvSpPr>
        <p:spPr>
          <a:xfrm>
            <a:off x="8247960" y="247788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servicemonitor.yaml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5"/>
          <p:cNvSpPr/>
          <p:nvPr/>
        </p:nvSpPr>
        <p:spPr>
          <a:xfrm>
            <a:off x="8247960" y="276156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Confi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gure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Prom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ethe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us to 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scrap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metri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cs 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from 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appli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catio</a:t>
            </a: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n.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6"/>
          <p:cNvSpPr/>
          <p:nvPr/>
        </p:nvSpPr>
        <p:spPr>
          <a:xfrm>
            <a:off x="548640" y="3410640"/>
            <a:ext cx="2394720" cy="86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7"/>
          <p:cNvSpPr/>
          <p:nvPr/>
        </p:nvSpPr>
        <p:spPr>
          <a:xfrm>
            <a:off x="649080" y="3474720"/>
            <a:ext cx="2193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prometheusrule.yaml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8"/>
          <p:cNvSpPr/>
          <p:nvPr/>
        </p:nvSpPr>
        <p:spPr>
          <a:xfrm>
            <a:off x="649080" y="3758040"/>
            <a:ext cx="2193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Defines the DemoAppPodDown alert for detecting application Pod failures.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0"/>
          <p:cNvSpPr/>
          <p:nvPr/>
        </p:nvSpPr>
        <p:spPr>
          <a:xfrm>
            <a:off x="548640" y="4232520"/>
            <a:ext cx="5485320" cy="12333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1"/>
          <p:cNvSpPr/>
          <p:nvPr/>
        </p:nvSpPr>
        <p:spPr>
          <a:xfrm>
            <a:off x="713160" y="42886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2"/>
          <p:cNvSpPr/>
          <p:nvPr/>
        </p:nvSpPr>
        <p:spPr>
          <a:xfrm>
            <a:off x="914400" y="42886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3"/>
          <p:cNvSpPr/>
          <p:nvPr/>
        </p:nvSpPr>
        <p:spPr>
          <a:xfrm>
            <a:off x="1115640" y="42886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4"/>
          <p:cNvSpPr/>
          <p:nvPr/>
        </p:nvSpPr>
        <p:spPr>
          <a:xfrm>
            <a:off x="749880" y="4544640"/>
            <a:ext cx="508284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{{- define "demo-app.fullname" -}}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{{- .Release.Name -}}-{{- .Chart.Name -}}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{{- end -}}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8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9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5"/>
          <p:cNvSpPr/>
          <p:nvPr/>
        </p:nvSpPr>
        <p:spPr>
          <a:xfrm>
            <a:off x="529200" y="5486400"/>
            <a:ext cx="53481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Not built-in — {{ include }} only works because this file defines it. Keeps Deployment, Service, and Ingress names in sync automatically.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8111160" y="3429000"/>
            <a:ext cx="2486520" cy="339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Port forwarding &amp; Ingress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Single-node cluster, Traefik routes demo.local to the Service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548640" y="1417320"/>
            <a:ext cx="5576760" cy="16905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713160" y="15454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914400" y="15454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1115640" y="15454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749880" y="1801440"/>
            <a:ext cx="517428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curl -sfL https://get.k3s.io | sh 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sudo k3s kubectl get nodes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ROLES: control-plane   (single node)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548640" y="31478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kubectl port-forward vs Ingress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548640" y="3395880"/>
            <a:ext cx="5576760" cy="173628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713160" y="374004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914400" y="374004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1115640" y="374004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749880" y="3924000"/>
            <a:ext cx="5174280" cy="12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kubectl port-forward svc/demo-app-demo-app \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8085:8085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curl http://demo.local/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curl http://demo.local/metrics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6400800" y="1417320"/>
            <a:ext cx="5211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ingress.yaml — Traefik annotation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6400800" y="1737360"/>
            <a:ext cx="5211000" cy="23763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6565320" y="186552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6766560" y="186552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>
            <a:off x="6967800" y="186552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6602040" y="2121480"/>
            <a:ext cx="4808520" cy="18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metadata: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annotations: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  kubernetes.io/ingress.class: traefik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spec: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rules: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2C572"/>
                </a:solidFill>
                <a:effectLst/>
                <a:uFillTx/>
                <a:latin typeface="Courier New"/>
                <a:ea typeface="Courier New"/>
              </a:rPr>
              <a:t>  - host: {{ .Values.ingress.host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2C572"/>
                </a:solidFill>
                <a:effectLst/>
                <a:uFillTx/>
                <a:latin typeface="Courier New"/>
                <a:ea typeface="Courier New"/>
              </a:rPr>
              <a:t>      | default "demo.local" }}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6400800" y="4206240"/>
            <a:ext cx="5211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Hostname parameterized so the same chart serves demo.local (dev) and uat.demo.local (UAT).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2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3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1"/>
          <a:stretch/>
        </p:blipFill>
        <p:spPr>
          <a:xfrm>
            <a:off x="529200" y="5143320"/>
            <a:ext cx="11429280" cy="141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Monitoring Stack Installation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kube-prometheus-stack in an isolated namespace, with persistence.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548640" y="1417320"/>
            <a:ext cx="5759640" cy="228492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713160" y="15454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914400" y="15454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1115640" y="15454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749880" y="1801440"/>
            <a:ext cx="5357160" cy="17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helm repo add prometheus-</a:t>
            </a: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community \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https://prometheus-</a:t>
            </a: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community.github.io/helm-</a:t>
            </a: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charts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kubectl create namespace </a:t>
            </a: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monitoring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helm install monitoring \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prometheus-community/kube-</a:t>
            </a: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prometheus-stack \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-n monitoring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548640" y="3794760"/>
            <a:ext cx="5759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Isolated namespace: clean kubectl get pods, and clean teardown.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6492240" y="1417320"/>
            <a:ext cx="5119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Persistent storage override (monitor-values.yaml)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6492240" y="1737360"/>
            <a:ext cx="5119560" cy="196488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6656760" y="186552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6858000" y="186552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2"/>
          <p:cNvSpPr/>
          <p:nvPr/>
        </p:nvSpPr>
        <p:spPr>
          <a:xfrm>
            <a:off x="7059240" y="186552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6693480" y="2121480"/>
            <a:ext cx="4717080" cy="14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grafana: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persistence: { enabled: true, size: 1Gi }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prometheus: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prometheusSpec: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  storageSpec: { ... storage: 2Gi }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6492240" y="3794760"/>
            <a:ext cx="51195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Default was ephemeral (emptyDir) — dashboards and metrics history would be lost on pod restart without this.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548640" y="434340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Access commands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6"/>
          <p:cNvSpPr/>
          <p:nvPr/>
        </p:nvSpPr>
        <p:spPr>
          <a:xfrm>
            <a:off x="548640" y="4663440"/>
            <a:ext cx="11063160" cy="137052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749880" y="4809600"/>
            <a:ext cx="1066068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kubectl port-forward svc/monitoring-kube-prometheus-prometheus -n </a:t>
            </a:r>
            <a:r>
              <a:rPr lang="en-US" sz="10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monitoring 9091:9090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kubectl port-forward svc/monitoring-grafana -n monitoring 3001:80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Prometheus Scraping &amp; Alerting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ServiceMonitor discovery + PrometheusRule alert, tested live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548640" y="1417320"/>
            <a:ext cx="5576760" cy="23763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713160" y="15454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914400" y="15454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1115640" y="15454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749880" y="1801440"/>
            <a:ext cx="5174280" cy="18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kind: ServiceMonitor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spec: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selector: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  matchLabels: { app: demo-app }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endpoints: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- port: http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  path: /metrics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  interval: 15s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6400800" y="1417320"/>
            <a:ext cx="5211000" cy="23763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6565320" y="15454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6766560" y="15454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6967800" y="15454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6602040" y="1801440"/>
            <a:ext cx="4808520" cy="18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kind: PrometheusRule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spec: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- alert: DemoAppPodDown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2C572"/>
                </a:solidFill>
                <a:effectLst/>
                <a:uFillTx/>
                <a:latin typeface="Courier New"/>
                <a:ea typeface="Courier New"/>
              </a:rPr>
              <a:t>    expr: up{job="demo-app-</a:t>
            </a:r>
            <a:r>
              <a:rPr lang="en-US" sz="950" b="0" u="none" strike="noStrike">
                <a:solidFill>
                  <a:srgbClr val="F2C572"/>
                </a:solidFill>
                <a:effectLst/>
                <a:uFillTx/>
                <a:latin typeface="Courier New"/>
                <a:ea typeface="Courier New"/>
              </a:rPr>
              <a:t>demo-app"}==0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  for: 1m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  labels: { severity: </a:t>
            </a: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critical }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548640" y="3931920"/>
            <a:ext cx="11063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Test: kubectl scale deployment demo-app-demo-app -n default --replicas=0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548640" y="4251960"/>
            <a:ext cx="110631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Alert progressed Inactive → Pending → Firing after the full 1-minute threshold, then cleared automatically on restore.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548640" y="4709160"/>
            <a:ext cx="5393880" cy="1599120"/>
          </a:xfrm>
          <a:prstGeom prst="rect">
            <a:avLst/>
          </a:prstGeom>
          <a:solidFill>
            <a:srgbClr val="EAF0F4"/>
          </a:solidFill>
          <a:ln w="19050">
            <a:solidFill>
              <a:srgbClr val="C9D6D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6"/>
          <p:cNvSpPr/>
          <p:nvPr/>
        </p:nvSpPr>
        <p:spPr>
          <a:xfrm>
            <a:off x="6080760" y="4709160"/>
            <a:ext cx="5531040" cy="1599120"/>
          </a:xfrm>
          <a:prstGeom prst="rect">
            <a:avLst/>
          </a:prstGeom>
          <a:solidFill>
            <a:srgbClr val="EAF0F4"/>
          </a:solidFill>
          <a:ln w="19050">
            <a:solidFill>
              <a:srgbClr val="C9D6DD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9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"/>
          <p:cNvPicPr/>
          <p:nvPr/>
        </p:nvPicPr>
        <p:blipFill>
          <a:blip r:embed="rId1"/>
          <a:stretch/>
        </p:blipFill>
        <p:spPr>
          <a:xfrm>
            <a:off x="186480" y="4572000"/>
            <a:ext cx="5864400" cy="221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"/>
          <p:cNvPicPr/>
          <p:nvPr/>
        </p:nvPicPr>
        <p:blipFill>
          <a:blip r:embed="rId2"/>
          <a:stretch/>
        </p:blipFill>
        <p:spPr>
          <a:xfrm>
            <a:off x="6080760" y="4572000"/>
            <a:ext cx="5567040" cy="205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Grafana Dashboards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Six PromQL panels — custom app metric plus cluster resource usage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548640" y="1417320"/>
            <a:ext cx="11063160" cy="501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731520" y="1463040"/>
            <a:ext cx="2742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Demo App Custom Metric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3566160" y="1463040"/>
            <a:ext cx="7862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demo_app_custom_metric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548640" y="1965960"/>
            <a:ext cx="11063160" cy="50184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731520" y="2011680"/>
            <a:ext cx="2742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Request Rate (per second)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3566160" y="2011680"/>
            <a:ext cx="7862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rate(demo_app_custom_metric[1m])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548640" y="2514600"/>
            <a:ext cx="11063160" cy="501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731520" y="2560320"/>
            <a:ext cx="2742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Pod CPU Usage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3566160" y="2560320"/>
            <a:ext cx="7862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sum(rate(container_cpu_usage_seconds_total{namespace="default"}[5m]))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548640" y="3063240"/>
            <a:ext cx="11063160" cy="50184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731520" y="3108960"/>
            <a:ext cx="2742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Pod Memory Usage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3566160" y="3108960"/>
            <a:ext cx="7862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sum(container_memory_working_set_bytes{namespace="default"})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548640" y="3611880"/>
            <a:ext cx="11063160" cy="501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731520" y="3657600"/>
            <a:ext cx="2742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Pod Restarts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3566160" y="3657600"/>
            <a:ext cx="7862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kube_pod_container_status_restarts_total{namespace="default"}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7"/>
          <p:cNvSpPr/>
          <p:nvPr/>
        </p:nvSpPr>
        <p:spPr>
          <a:xfrm>
            <a:off x="548640" y="4160520"/>
            <a:ext cx="11063160" cy="501840"/>
          </a:xfrm>
          <a:prstGeom prst="rect">
            <a:avLst/>
          </a:prstGeom>
          <a:solidFill>
            <a:srgbClr val="EAF0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731520" y="4206240"/>
            <a:ext cx="27421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Running Pods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3566160" y="4206240"/>
            <a:ext cx="78627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count(kube_pod_status_phase{namespace="default", phase="Running"})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2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3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"/>
          <p:cNvPicPr/>
          <p:nvPr/>
        </p:nvPicPr>
        <p:blipFill>
          <a:blip r:embed="rId1"/>
          <a:stretch/>
        </p:blipFill>
        <p:spPr>
          <a:xfrm>
            <a:off x="531000" y="4627080"/>
            <a:ext cx="11126880" cy="215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Testing &amp; Validation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Self-healing, full Helm lifecycle, scaling, and resource checks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548640" y="1463040"/>
            <a:ext cx="3610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Self-healing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548640" y="1783080"/>
            <a:ext cx="3610800" cy="10047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749880" y="1929240"/>
            <a:ext cx="320832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kubectl delete pod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(replicas: 2)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548640" y="2880360"/>
            <a:ext cx="3610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New pod appears automatically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4343400" y="1463040"/>
            <a:ext cx="3610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Helm lifecycle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4343400" y="1783080"/>
            <a:ext cx="3610800" cy="10047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4544640" y="1929240"/>
            <a:ext cx="320832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upgrade → history →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rollback → uninstall → reinstall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4343400" y="2880360"/>
            <a:ext cx="3610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Full revision control tested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8138160" y="1463040"/>
            <a:ext cx="3610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Scaling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8138160" y="1783080"/>
            <a:ext cx="3610800" cy="10047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8339400" y="1929240"/>
            <a:ext cx="320832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--replicas=3, </a:t>
            </a: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curl </a:t>
            </a: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repeatedly,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then --</a:t>
            </a: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replicas=1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8138160" y="2880360"/>
            <a:ext cx="3610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Service load-balances across pods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3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4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77800" y="2779200"/>
            <a:ext cx="112010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Multi-Environment: UAT &amp; Dynamic Environments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Same chart, different </a:t>
            </a: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values — dev, UAT, and </a:t>
            </a: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per-PR test environments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"/>
          <p:cNvSpPr/>
          <p:nvPr/>
        </p:nvSpPr>
        <p:spPr>
          <a:xfrm>
            <a:off x="548640" y="1417320"/>
            <a:ext cx="3610800" cy="114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685800" y="150876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dev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685800" y="185616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default namespace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685800" y="216720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demo.local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4160520" y="1988640"/>
            <a:ext cx="182880" cy="360"/>
          </a:xfrm>
          <a:prstGeom prst="line">
            <a:avLst/>
          </a:prstGeom>
          <a:ln w="22225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7"/>
          <p:cNvSpPr/>
          <p:nvPr/>
        </p:nvSpPr>
        <p:spPr>
          <a:xfrm>
            <a:off x="4343400" y="1417320"/>
            <a:ext cx="3610800" cy="114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4480560" y="150876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ourier New"/>
                <a:ea typeface="Courier New"/>
              </a:rPr>
              <a:t>uat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4480560" y="185616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uat namespace, 2 replicas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4480560" y="216720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uat.demo.local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7955280" y="1988640"/>
            <a:ext cx="182880" cy="360"/>
          </a:xfrm>
          <a:prstGeom prst="line">
            <a:avLst/>
          </a:prstGeom>
          <a:ln w="22225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2"/>
          <p:cNvSpPr/>
          <p:nvPr/>
        </p:nvSpPr>
        <p:spPr>
          <a:xfrm>
            <a:off x="8138160" y="1417320"/>
            <a:ext cx="3610800" cy="114192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8275320" y="150876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pr-&lt;id&gt;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8275320" y="185616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8E6EE"/>
                </a:solidFill>
                <a:effectLst/>
                <a:uFillTx/>
                <a:latin typeface="Calibri"/>
                <a:ea typeface="Calibri"/>
              </a:rPr>
              <a:t>dynamic namespace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8275320" y="2167200"/>
            <a:ext cx="3336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8E6EE"/>
                </a:solidFill>
                <a:effectLst/>
                <a:uFillTx/>
                <a:latin typeface="Calibri"/>
                <a:ea typeface="Calibri"/>
              </a:rPr>
              <a:t>node-ip:NodePort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548640" y="27889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Cross-namespace scraping (namespaceSelector)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7"/>
          <p:cNvSpPr/>
          <p:nvPr/>
        </p:nvSpPr>
        <p:spPr>
          <a:xfrm>
            <a:off x="548640" y="3108960"/>
            <a:ext cx="5119560" cy="105048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749880" y="3255120"/>
            <a:ext cx="47170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namespaceSelector: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matchNames: [default, uat]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5943600" y="2788920"/>
            <a:ext cx="5668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deploy-uat-env.sh — dynamic lifecycle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0"/>
          <p:cNvSpPr/>
          <p:nvPr/>
        </p:nvSpPr>
        <p:spPr>
          <a:xfrm>
            <a:off x="5943600" y="3108960"/>
            <a:ext cx="5668200" cy="105048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6144840" y="3255120"/>
            <a:ext cx="52657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./deploy-uat-env.sh 7            # deploy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2C572"/>
                </a:solidFill>
                <a:effectLst/>
                <a:uFillTx/>
                <a:latin typeface="Courier New"/>
                <a:ea typeface="Courier New"/>
              </a:rPr>
              <a:t>./deploy-uat-env.sh --cleanup 7  # tear down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548640" y="4127400"/>
            <a:ext cx="1106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Why dynamic environments: no collisions between reviewers · a live link to click, not just code · automatic resource reclaim on cleanup.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5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6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"/>
          <p:cNvPicPr/>
          <p:nvPr/>
        </p:nvPicPr>
        <p:blipFill>
          <a:blip r:embed="rId1"/>
          <a:srcRect l="0" t="0" r="0" b="55467"/>
          <a:stretch/>
        </p:blipFill>
        <p:spPr>
          <a:xfrm>
            <a:off x="556200" y="4572000"/>
            <a:ext cx="10873080" cy="196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69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Docker Hub Integration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Build → push → pull — cloud registry replaces local containerd import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64"/>
          <p:cNvSpPr/>
          <p:nvPr/>
        </p:nvSpPr>
        <p:spPr>
          <a:xfrm>
            <a:off x="548640" y="1463040"/>
            <a:ext cx="3382200" cy="137052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2"/>
          <p:cNvSpPr/>
          <p:nvPr/>
        </p:nvSpPr>
        <p:spPr>
          <a:xfrm>
            <a:off x="749880" y="1609200"/>
            <a:ext cx="297972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docker tag demo-app:v.1.0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sandrakinya/demo-app:v.1.0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03"/>
          <p:cNvSpPr/>
          <p:nvPr/>
        </p:nvSpPr>
        <p:spPr>
          <a:xfrm>
            <a:off x="548640" y="1170360"/>
            <a:ext cx="3382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1. Tag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65"/>
          <p:cNvSpPr/>
          <p:nvPr/>
        </p:nvSpPr>
        <p:spPr>
          <a:xfrm>
            <a:off x="3931920" y="2148840"/>
            <a:ext cx="274320" cy="360"/>
          </a:xfrm>
          <a:prstGeom prst="line">
            <a:avLst/>
          </a:prstGeom>
          <a:ln w="22225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6"/>
          <p:cNvSpPr/>
          <p:nvPr/>
        </p:nvSpPr>
        <p:spPr>
          <a:xfrm>
            <a:off x="4206240" y="1463040"/>
            <a:ext cx="3382200" cy="137052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04"/>
          <p:cNvSpPr/>
          <p:nvPr/>
        </p:nvSpPr>
        <p:spPr>
          <a:xfrm>
            <a:off x="4407480" y="1609200"/>
            <a:ext cx="297972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docker push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sandrakinya/demo-app:v.1.0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05"/>
          <p:cNvSpPr/>
          <p:nvPr/>
        </p:nvSpPr>
        <p:spPr>
          <a:xfrm>
            <a:off x="4206240" y="1170360"/>
            <a:ext cx="3382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2. Push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7"/>
          <p:cNvSpPr/>
          <p:nvPr/>
        </p:nvSpPr>
        <p:spPr>
          <a:xfrm>
            <a:off x="7589520" y="2148840"/>
            <a:ext cx="274320" cy="360"/>
          </a:xfrm>
          <a:prstGeom prst="line">
            <a:avLst/>
          </a:prstGeom>
          <a:ln w="22225">
            <a:solidFill>
              <a:srgbClr val="F2994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68"/>
          <p:cNvSpPr/>
          <p:nvPr/>
        </p:nvSpPr>
        <p:spPr>
          <a:xfrm>
            <a:off x="7863840" y="1463040"/>
            <a:ext cx="3382200" cy="137052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06"/>
          <p:cNvSpPr/>
          <p:nvPr/>
        </p:nvSpPr>
        <p:spPr>
          <a:xfrm>
            <a:off x="8065080" y="1609200"/>
            <a:ext cx="297972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kubelet pulls over the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network on pod schedule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07"/>
          <p:cNvSpPr/>
          <p:nvPr/>
        </p:nvSpPr>
        <p:spPr>
          <a:xfrm>
            <a:off x="7863840" y="1170360"/>
            <a:ext cx="3382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3. Pull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08"/>
          <p:cNvSpPr/>
          <p:nvPr/>
        </p:nvSpPr>
        <p:spPr>
          <a:xfrm>
            <a:off x="548640" y="315468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Key config change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69"/>
          <p:cNvSpPr/>
          <p:nvPr/>
        </p:nvSpPr>
        <p:spPr>
          <a:xfrm>
            <a:off x="548640" y="3474720"/>
            <a:ext cx="5119560" cy="12333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70"/>
          <p:cNvSpPr/>
          <p:nvPr/>
        </p:nvSpPr>
        <p:spPr>
          <a:xfrm>
            <a:off x="713160" y="36028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71"/>
          <p:cNvSpPr/>
          <p:nvPr/>
        </p:nvSpPr>
        <p:spPr>
          <a:xfrm>
            <a:off x="914400" y="36028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72"/>
          <p:cNvSpPr/>
          <p:nvPr/>
        </p:nvSpPr>
        <p:spPr>
          <a:xfrm>
            <a:off x="1115640" y="36028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09"/>
          <p:cNvSpPr/>
          <p:nvPr/>
        </p:nvSpPr>
        <p:spPr>
          <a:xfrm>
            <a:off x="749880" y="3858840"/>
            <a:ext cx="471708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image: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repository: sandrakinya/demo-app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2C572"/>
                </a:solidFill>
                <a:effectLst/>
                <a:uFillTx/>
                <a:latin typeface="Courier New"/>
                <a:ea typeface="Courier New"/>
              </a:rPr>
              <a:t>  pullPolicy: IfNotPresent  # was: Never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10"/>
          <p:cNvSpPr/>
          <p:nvPr/>
        </p:nvSpPr>
        <p:spPr>
          <a:xfrm>
            <a:off x="5943600" y="315468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CI/CD pattern demonstrated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11"/>
          <p:cNvSpPr/>
          <p:nvPr/>
        </p:nvSpPr>
        <p:spPr>
          <a:xfrm>
            <a:off x="5943600" y="3474720"/>
            <a:ext cx="566820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build → push to cloud registry → cluster pulls over the network, instead of relying on local-only images. Any app.py change now requires: docker build → docker push → kubectl delete pod.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12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13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"/>
          <p:cNvPicPr/>
          <p:nvPr/>
        </p:nvPicPr>
        <p:blipFill>
          <a:blip r:embed="rId1"/>
          <a:srcRect l="0" t="0" r="0" b="8831"/>
          <a:stretch/>
        </p:blipFill>
        <p:spPr>
          <a:xfrm>
            <a:off x="545400" y="4739400"/>
            <a:ext cx="8878680" cy="204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SBOM &amp; Security Scanning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Using Trivy to generate SBOM and security reports.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548640" y="141732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SBOM report (Trivy, CycloneDX)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594720" y="1805760"/>
            <a:ext cx="5348160" cy="91332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749880" y="1883520"/>
            <a:ext cx="51742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trivy image --format cyclonedx \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-o reports/docker-sbom.json sandrakinya/demo-app:v.1.0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3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4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6586560" y="1472400"/>
            <a:ext cx="39268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security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8"/>
          <p:cNvSpPr/>
          <p:nvPr/>
        </p:nvSpPr>
        <p:spPr>
          <a:xfrm>
            <a:off x="6606720" y="1806120"/>
            <a:ext cx="5348160" cy="91332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72"/>
          <p:cNvSpPr/>
          <p:nvPr/>
        </p:nvSpPr>
        <p:spPr>
          <a:xfrm>
            <a:off x="6690240" y="1883520"/>
            <a:ext cx="517428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trivy image --severity HIGH,CRITICAL --output reports/image-scan.txt sandrakinya/demo-app:v.1.0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44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Security Hardening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6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Pod and container security context, plus health probes — added as an optional task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2"/>
          <p:cNvSpPr/>
          <p:nvPr/>
        </p:nvSpPr>
        <p:spPr>
          <a:xfrm>
            <a:off x="548640" y="1417320"/>
            <a:ext cx="5576760" cy="233064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0"/>
          <p:cNvSpPr/>
          <p:nvPr/>
        </p:nvSpPr>
        <p:spPr>
          <a:xfrm>
            <a:off x="713160" y="15454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41"/>
          <p:cNvSpPr/>
          <p:nvPr/>
        </p:nvSpPr>
        <p:spPr>
          <a:xfrm>
            <a:off x="914400" y="15454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42"/>
          <p:cNvSpPr/>
          <p:nvPr/>
        </p:nvSpPr>
        <p:spPr>
          <a:xfrm>
            <a:off x="1115640" y="15454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58"/>
          <p:cNvSpPr/>
          <p:nvPr/>
        </p:nvSpPr>
        <p:spPr>
          <a:xfrm>
            <a:off x="749880" y="1801440"/>
            <a:ext cx="5174280" cy="183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podSecurityContext: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runAsNonRoot: true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runAsUser: 1000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fsGroup: 1000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containerSecurityContext: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allowPrivilegeEscalation: false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capabilities: { drop: [ALL] }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43"/>
          <p:cNvSpPr/>
          <p:nvPr/>
        </p:nvSpPr>
        <p:spPr>
          <a:xfrm>
            <a:off x="6400800" y="1417320"/>
            <a:ext cx="5211000" cy="233064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44"/>
          <p:cNvSpPr/>
          <p:nvPr/>
        </p:nvSpPr>
        <p:spPr>
          <a:xfrm>
            <a:off x="6565320" y="154548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45"/>
          <p:cNvSpPr/>
          <p:nvPr/>
        </p:nvSpPr>
        <p:spPr>
          <a:xfrm>
            <a:off x="6766560" y="154548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6"/>
          <p:cNvSpPr/>
          <p:nvPr/>
        </p:nvSpPr>
        <p:spPr>
          <a:xfrm>
            <a:off x="6967800" y="154548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62"/>
          <p:cNvSpPr/>
          <p:nvPr/>
        </p:nvSpPr>
        <p:spPr>
          <a:xfrm>
            <a:off x="6602040" y="1801440"/>
            <a:ext cx="4808520" cy="183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livenessProbe: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httpGet: { path: /, port: 8085 }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initialDelaySeconds: 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readinessProbe: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httpGet: { path: /, port: 8085 }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  initialDelaySeconds: 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3"/>
          <p:cNvSpPr/>
          <p:nvPr/>
        </p:nvSpPr>
        <p:spPr>
          <a:xfrm>
            <a:off x="548640" y="3977640"/>
            <a:ext cx="10514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Resource requests &amp; limits — prevents one workload from starving others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7"/>
          <p:cNvSpPr/>
          <p:nvPr/>
        </p:nvSpPr>
        <p:spPr>
          <a:xfrm>
            <a:off x="548640" y="4297680"/>
            <a:ext cx="11063160" cy="141624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4"/>
          <p:cNvSpPr/>
          <p:nvPr/>
        </p:nvSpPr>
        <p:spPr>
          <a:xfrm>
            <a:off x="749880" y="4443840"/>
            <a:ext cx="1066068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resources: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requests: { cpu: 50m, memory: 64Mi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  limits:   { cpu: 200m, memory: 128Mi 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5"/>
          <p:cNvSpPr/>
          <p:nvPr/>
        </p:nvSpPr>
        <p:spPr>
          <a:xfrm>
            <a:off x="548640" y="5852160"/>
            <a:ext cx="1106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Applied to both dev (values.yaml) and UAT (values-uat.yaml, sized higher for 2 replicas).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66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7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1"/>
          <p:cNvSpPr/>
          <p:nvPr/>
        </p:nvSpPr>
        <p:spPr>
          <a:xfrm>
            <a:off x="594360" y="320040"/>
            <a:ext cx="5892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93769"/>
                </a:solidFill>
                <a:effectLst/>
                <a:uFillTx/>
                <a:latin typeface="Aptos Display"/>
              </a:rPr>
              <a:t>Dynamic UAT Deployment Script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"/>
          <p:cNvSpPr/>
          <p:nvPr/>
        </p:nvSpPr>
        <p:spPr>
          <a:xfrm>
            <a:off x="621720" y="868680"/>
            <a:ext cx="6830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05C6E"/>
                </a:solidFill>
                <a:effectLst/>
                <a:uFillTx/>
                <a:latin typeface="Aptos"/>
              </a:rPr>
              <a:t>A temporary, isolated environment is created from the application version.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ounded Rectangle 1"/>
          <p:cNvSpPr/>
          <p:nvPr/>
        </p:nvSpPr>
        <p:spPr>
          <a:xfrm>
            <a:off x="685800" y="1600200"/>
            <a:ext cx="3427920" cy="1077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DC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Oval 1"/>
          <p:cNvSpPr/>
          <p:nvPr/>
        </p:nvSpPr>
        <p:spPr>
          <a:xfrm>
            <a:off x="850320" y="1847160"/>
            <a:ext cx="565920" cy="565920"/>
          </a:xfrm>
          <a:prstGeom prst="ellipse">
            <a:avLst/>
          </a:prstGeom>
          <a:solidFill>
            <a:srgbClr val="19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4"/>
          <p:cNvSpPr/>
          <p:nvPr/>
        </p:nvSpPr>
        <p:spPr>
          <a:xfrm>
            <a:off x="1554480" y="1764720"/>
            <a:ext cx="1838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93769"/>
                </a:solidFill>
                <a:effectLst/>
                <a:uFillTx/>
                <a:latin typeface="Aptos"/>
              </a:rPr>
              <a:t>make uat-install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7"/>
          <p:cNvSpPr/>
          <p:nvPr/>
        </p:nvSpPr>
        <p:spPr>
          <a:xfrm>
            <a:off x="1554480" y="2130480"/>
            <a:ext cx="21225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05C6E"/>
                </a:solidFill>
                <a:effectLst/>
                <a:uFillTx/>
                <a:latin typeface="Aptos"/>
              </a:rPr>
              <a:t>Starts the deployment script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2"/>
          <p:cNvSpPr/>
          <p:nvPr/>
        </p:nvSpPr>
        <p:spPr>
          <a:xfrm>
            <a:off x="4526280" y="1600200"/>
            <a:ext cx="3427920" cy="1077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DC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Oval 2"/>
          <p:cNvSpPr/>
          <p:nvPr/>
        </p:nvSpPr>
        <p:spPr>
          <a:xfrm>
            <a:off x="4690800" y="1847160"/>
            <a:ext cx="565920" cy="565920"/>
          </a:xfrm>
          <a:prstGeom prst="ellipse">
            <a:avLst/>
          </a:prstGeom>
          <a:solidFill>
            <a:srgbClr val="19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8"/>
          <p:cNvSpPr/>
          <p:nvPr/>
        </p:nvSpPr>
        <p:spPr>
          <a:xfrm>
            <a:off x="5394960" y="1764720"/>
            <a:ext cx="9360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93769"/>
                </a:solidFill>
                <a:effectLst/>
                <a:uFillTx/>
                <a:latin typeface="Aptos"/>
              </a:rPr>
              <a:t>Git SHA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1"/>
          <p:cNvSpPr/>
          <p:nvPr/>
        </p:nvSpPr>
        <p:spPr>
          <a:xfrm>
            <a:off x="5286960" y="2130480"/>
            <a:ext cx="24440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05C6E"/>
                </a:solidFill>
                <a:effectLst/>
                <a:uFillTx/>
                <a:latin typeface="Aptos"/>
              </a:rPr>
              <a:t>Identifies the image version built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ounded Rectangle 4"/>
          <p:cNvSpPr/>
          <p:nvPr/>
        </p:nvSpPr>
        <p:spPr>
          <a:xfrm>
            <a:off x="8366760" y="1600200"/>
            <a:ext cx="3427920" cy="1077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DC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Oval 3"/>
          <p:cNvSpPr/>
          <p:nvPr/>
        </p:nvSpPr>
        <p:spPr>
          <a:xfrm>
            <a:off x="8531280" y="1847160"/>
            <a:ext cx="565920" cy="565920"/>
          </a:xfrm>
          <a:prstGeom prst="ellipse">
            <a:avLst/>
          </a:prstGeom>
          <a:solidFill>
            <a:srgbClr val="19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2"/>
          <p:cNvSpPr/>
          <p:nvPr/>
        </p:nvSpPr>
        <p:spPr>
          <a:xfrm>
            <a:off x="9235440" y="1764720"/>
            <a:ext cx="1102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93769"/>
                </a:solidFill>
                <a:effectLst/>
                <a:uFillTx/>
                <a:latin typeface="Aptos"/>
              </a:rPr>
              <a:t>test-&lt;ID&gt;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5"/>
          <p:cNvSpPr/>
          <p:nvPr/>
        </p:nvSpPr>
        <p:spPr>
          <a:xfrm>
            <a:off x="9235440" y="2130480"/>
            <a:ext cx="2472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05C6E"/>
                </a:solidFill>
                <a:effectLst/>
                <a:uFillTx/>
                <a:latin typeface="Aptos"/>
              </a:rPr>
              <a:t>Creates a unique UAT namespace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ounded Rectangle 5"/>
          <p:cNvSpPr/>
          <p:nvPr/>
        </p:nvSpPr>
        <p:spPr>
          <a:xfrm>
            <a:off x="685800" y="3182040"/>
            <a:ext cx="3427920" cy="1077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DC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Oval 5"/>
          <p:cNvSpPr/>
          <p:nvPr/>
        </p:nvSpPr>
        <p:spPr>
          <a:xfrm>
            <a:off x="850320" y="3429000"/>
            <a:ext cx="565920" cy="565920"/>
          </a:xfrm>
          <a:prstGeom prst="ellipse">
            <a:avLst/>
          </a:prstGeom>
          <a:solidFill>
            <a:srgbClr val="19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6"/>
          <p:cNvSpPr/>
          <p:nvPr/>
        </p:nvSpPr>
        <p:spPr>
          <a:xfrm>
            <a:off x="1554480" y="3346560"/>
            <a:ext cx="1443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93769"/>
                </a:solidFill>
                <a:effectLst/>
                <a:uFillTx/>
                <a:latin typeface="Aptos"/>
              </a:rPr>
              <a:t>Helm deploy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19"/>
          <p:cNvSpPr/>
          <p:nvPr/>
        </p:nvSpPr>
        <p:spPr>
          <a:xfrm>
            <a:off x="1554480" y="3712320"/>
            <a:ext cx="2639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05C6E"/>
                </a:solidFill>
                <a:effectLst/>
                <a:uFillTx/>
                <a:latin typeface="Aptos"/>
              </a:rPr>
              <a:t>Deploys the image with the SHA tag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ounded Rectangle 6"/>
          <p:cNvSpPr/>
          <p:nvPr/>
        </p:nvSpPr>
        <p:spPr>
          <a:xfrm>
            <a:off x="4526280" y="3182040"/>
            <a:ext cx="3427920" cy="1077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DC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Oval 6"/>
          <p:cNvSpPr/>
          <p:nvPr/>
        </p:nvSpPr>
        <p:spPr>
          <a:xfrm>
            <a:off x="4690800" y="3429000"/>
            <a:ext cx="565920" cy="565920"/>
          </a:xfrm>
          <a:prstGeom prst="ellipse">
            <a:avLst/>
          </a:prstGeom>
          <a:solidFill>
            <a:srgbClr val="19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0"/>
          <p:cNvSpPr/>
          <p:nvPr/>
        </p:nvSpPr>
        <p:spPr>
          <a:xfrm>
            <a:off x="5394960" y="3346560"/>
            <a:ext cx="1549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93769"/>
                </a:solidFill>
                <a:effectLst/>
                <a:uFillTx/>
                <a:latin typeface="Aptos"/>
              </a:rPr>
              <a:t>Rollout check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23"/>
          <p:cNvSpPr/>
          <p:nvPr/>
        </p:nvSpPr>
        <p:spPr>
          <a:xfrm>
            <a:off x="5394960" y="3712320"/>
            <a:ext cx="2615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05C6E"/>
                </a:solidFill>
                <a:effectLst/>
                <a:uFillTx/>
                <a:latin typeface="Aptos"/>
              </a:rPr>
              <a:t>Waits until the Deployment is </a:t>
            </a:r>
            <a:r>
              <a:rPr lang="en-US" sz="1150" b="0" u="none" strike="noStrike">
                <a:solidFill>
                  <a:srgbClr val="505C6E"/>
                </a:solidFill>
                <a:effectLst/>
                <a:uFillTx/>
                <a:latin typeface="Aptos"/>
              </a:rPr>
              <a:t>ready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ounded Rectangle 8"/>
          <p:cNvSpPr/>
          <p:nvPr/>
        </p:nvSpPr>
        <p:spPr>
          <a:xfrm>
            <a:off x="8366760" y="3182040"/>
            <a:ext cx="3427920" cy="1077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D2DCE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Oval 7"/>
          <p:cNvSpPr/>
          <p:nvPr/>
        </p:nvSpPr>
        <p:spPr>
          <a:xfrm>
            <a:off x="8531280" y="3429000"/>
            <a:ext cx="565920" cy="565920"/>
          </a:xfrm>
          <a:prstGeom prst="ellipse">
            <a:avLst/>
          </a:prstGeom>
          <a:solidFill>
            <a:srgbClr val="19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4"/>
          <p:cNvSpPr/>
          <p:nvPr/>
        </p:nvSpPr>
        <p:spPr>
          <a:xfrm>
            <a:off x="9235440" y="3346560"/>
            <a:ext cx="1200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93769"/>
                </a:solidFill>
                <a:effectLst/>
                <a:uFillTx/>
                <a:latin typeface="Aptos"/>
              </a:rPr>
              <a:t>UAT ready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7"/>
          <p:cNvSpPr/>
          <p:nvPr/>
        </p:nvSpPr>
        <p:spPr>
          <a:xfrm>
            <a:off x="9235440" y="3712320"/>
            <a:ext cx="23752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05C6E"/>
                </a:solidFill>
                <a:effectLst/>
                <a:uFillTx/>
                <a:latin typeface="Aptos"/>
              </a:rPr>
              <a:t>Shows the service access details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9"/>
          <p:cNvSpPr/>
          <p:nvPr/>
        </p:nvSpPr>
        <p:spPr>
          <a:xfrm>
            <a:off x="685800" y="5074920"/>
            <a:ext cx="10834920" cy="776160"/>
          </a:xfrm>
          <a:prstGeom prst="roundRect">
            <a:avLst>
              <a:gd name="adj" fmla="val 16667"/>
            </a:avLst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30"/>
          <p:cNvSpPr/>
          <p:nvPr/>
        </p:nvSpPr>
        <p:spPr>
          <a:xfrm>
            <a:off x="2113920" y="5230440"/>
            <a:ext cx="7932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93769"/>
                </a:solidFill>
                <a:effectLst/>
                <a:uFillTx/>
                <a:latin typeface="Aptos"/>
              </a:rPr>
              <a:t>Cleanup:  make uat-clean ID  →  Helm release removed  →  test-&lt;ID&gt; namespace deleted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31"/>
          <p:cNvSpPr/>
          <p:nvPr/>
        </p:nvSpPr>
        <p:spPr>
          <a:xfrm>
            <a:off x="640080" y="6263640"/>
            <a:ext cx="2820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646E7D"/>
                </a:solidFill>
                <a:effectLst/>
                <a:uFillTx/>
                <a:latin typeface="Aptos"/>
              </a:rPr>
              <a:t>Local Kubernetes Cluster (K3s) — Dynamic UAT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68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Developer Workflow Automation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The entire workflow using Makefile commands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3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75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7" name=""/>
          <p:cNvPicPr/>
          <p:nvPr/>
        </p:nvPicPr>
        <p:blipFill>
          <a:blip r:embed="rId1"/>
          <a:stretch/>
        </p:blipFill>
        <p:spPr>
          <a:xfrm>
            <a:off x="995040" y="1274760"/>
            <a:ext cx="8605440" cy="519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81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Developer Workflow Automation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70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Makefile wraps existing sequence of commands into one single command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71"/>
          <p:cNvSpPr/>
          <p:nvPr/>
        </p:nvSpPr>
        <p:spPr>
          <a:xfrm>
            <a:off x="548640" y="1417320"/>
            <a:ext cx="5576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Before: manual, repeated on every app.py change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8"/>
          <p:cNvSpPr/>
          <p:nvPr/>
        </p:nvSpPr>
        <p:spPr>
          <a:xfrm>
            <a:off x="548640" y="1737360"/>
            <a:ext cx="5576760" cy="12333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76"/>
          <p:cNvSpPr/>
          <p:nvPr/>
        </p:nvSpPr>
        <p:spPr>
          <a:xfrm>
            <a:off x="749880" y="1883520"/>
            <a:ext cx="517428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docker build -t sandrakinya/demo-app:v.1.0 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docker push sandrakinya/demo-app:v.1.0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kubectl delete pod -l app=demo-app -n default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77"/>
          <p:cNvSpPr/>
          <p:nvPr/>
        </p:nvSpPr>
        <p:spPr>
          <a:xfrm>
            <a:off x="548640" y="3108960"/>
            <a:ext cx="5576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After: one command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49"/>
          <p:cNvSpPr/>
          <p:nvPr/>
        </p:nvSpPr>
        <p:spPr>
          <a:xfrm>
            <a:off x="548640" y="3357000"/>
            <a:ext cx="5576760" cy="77616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90"/>
          <p:cNvSpPr/>
          <p:nvPr/>
        </p:nvSpPr>
        <p:spPr>
          <a:xfrm>
            <a:off x="749880" y="3575160"/>
            <a:ext cx="51742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make deploy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93"/>
          <p:cNvSpPr/>
          <p:nvPr/>
        </p:nvSpPr>
        <p:spPr>
          <a:xfrm>
            <a:off x="6400800" y="1417320"/>
            <a:ext cx="5211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Sample Makefile targets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57"/>
          <p:cNvSpPr/>
          <p:nvPr/>
        </p:nvSpPr>
        <p:spPr>
          <a:xfrm>
            <a:off x="6400800" y="1737360"/>
            <a:ext cx="5211000" cy="2787840"/>
          </a:xfrm>
          <a:prstGeom prst="rect">
            <a:avLst/>
          </a:prstGeom>
          <a:solidFill>
            <a:srgbClr val="0F1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58"/>
          <p:cNvSpPr/>
          <p:nvPr/>
        </p:nvSpPr>
        <p:spPr>
          <a:xfrm>
            <a:off x="6565320" y="1865520"/>
            <a:ext cx="99360" cy="99360"/>
          </a:xfrm>
          <a:prstGeom prst="ellipse">
            <a:avLst/>
          </a:prstGeom>
          <a:solidFill>
            <a:srgbClr val="E06C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59"/>
          <p:cNvSpPr/>
          <p:nvPr/>
        </p:nvSpPr>
        <p:spPr>
          <a:xfrm>
            <a:off x="6766560" y="1865520"/>
            <a:ext cx="99360" cy="99360"/>
          </a:xfrm>
          <a:prstGeom prst="ellipse">
            <a:avLst/>
          </a:prstGeom>
          <a:solidFill>
            <a:srgbClr val="E5C0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60"/>
          <p:cNvSpPr/>
          <p:nvPr/>
        </p:nvSpPr>
        <p:spPr>
          <a:xfrm>
            <a:off x="6967800" y="1865520"/>
            <a:ext cx="99360" cy="99360"/>
          </a:xfrm>
          <a:prstGeom prst="ellipse">
            <a:avLst/>
          </a:prstGeom>
          <a:solidFill>
            <a:srgbClr val="98C3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680" tIns="26280" rIns="4968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4"/>
          <p:cNvSpPr/>
          <p:nvPr/>
        </p:nvSpPr>
        <p:spPr>
          <a:xfrm>
            <a:off x="6602040" y="2121480"/>
            <a:ext cx="4808520" cy="22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build:      docker build -t $(IMAGE) 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push:       docker push $(IMAGE)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deploy:     push + delete-pod + rollout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install:    helm install demo-app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upgrade:    helm upgrade demo-app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D7E4EE"/>
                </a:solidFill>
                <a:effectLst/>
                <a:uFillTx/>
                <a:latin typeface="Courier New"/>
                <a:ea typeface="Courier New"/>
              </a:rPr>
              <a:t>monitoring-install: kube-prometheus-stack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up:         namespaces + monitoring + app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D3C7"/>
                </a:solidFill>
                <a:effectLst/>
                <a:uFillTx/>
                <a:latin typeface="Courier New"/>
                <a:ea typeface="Courier New"/>
              </a:rPr>
              <a:t>status:     nodes + releases + pods snapshot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95"/>
          <p:cNvSpPr/>
          <p:nvPr/>
        </p:nvSpPr>
        <p:spPr>
          <a:xfrm>
            <a:off x="548640" y="4434840"/>
            <a:ext cx="1106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Deliberately scoped: no new frameworks (Tilt, k3d) — plain make, using tools already demonstrated in this project. Repo structure is unchanged.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96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97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"/>
          <p:cNvPicPr/>
          <p:nvPr/>
        </p:nvPicPr>
        <p:blipFill>
          <a:blip r:embed="rId1"/>
          <a:stretch/>
        </p:blipFill>
        <p:spPr>
          <a:xfrm>
            <a:off x="510480" y="4205520"/>
            <a:ext cx="11147400" cy="265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40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Developer Workflow Automation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1"/>
          <p:cNvSpPr/>
          <p:nvPr/>
        </p:nvSpPr>
        <p:spPr>
          <a:xfrm>
            <a:off x="548640" y="91440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The entire workflow using Makefile commands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2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3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557640" y="-825120"/>
            <a:ext cx="12800880" cy="77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57"/>
          <p:cNvSpPr/>
          <p:nvPr/>
        </p:nvSpPr>
        <p:spPr>
          <a:xfrm>
            <a:off x="548640" y="365760"/>
            <a:ext cx="10514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Future </a:t>
            </a:r>
            <a:r>
              <a:rPr lang="en-US" sz="29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Work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8"/>
          <p:cNvSpPr/>
          <p:nvPr/>
        </p:nvSpPr>
        <p:spPr>
          <a:xfrm>
            <a:off x="620640" y="1143000"/>
            <a:ext cx="10963800" cy="2285280"/>
          </a:xfrm>
          <a:prstGeom prst="rect">
            <a:avLst/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9"/>
          <p:cNvSpPr/>
          <p:nvPr/>
        </p:nvSpPr>
        <p:spPr>
          <a:xfrm>
            <a:off x="713160" y="1411560"/>
            <a:ext cx="327960" cy="3279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59"/>
          <p:cNvSpPr/>
          <p:nvPr/>
        </p:nvSpPr>
        <p:spPr>
          <a:xfrm>
            <a:off x="713160" y="137556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60"/>
          <p:cNvSpPr/>
          <p:nvPr/>
        </p:nvSpPr>
        <p:spPr>
          <a:xfrm>
            <a:off x="1143000" y="1447200"/>
            <a:ext cx="4343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Integrate the project with CI/CD pipeline. (ProjectA)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61"/>
          <p:cNvSpPr/>
          <p:nvPr/>
        </p:nvSpPr>
        <p:spPr>
          <a:xfrm>
            <a:off x="685800" y="2084760"/>
            <a:ext cx="10743480" cy="11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5B6B7A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Automate the existing dynamic UAT environment so that each Pull Request automatically creates a temporary test and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removes it when the Pull Request is closed.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5B6B7A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The current dynamic UAT environment is created manually through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make uat-install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, which runs deploy-test-env.sh to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create a unique test ID namespace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build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and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push the SHA tagged image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deploy it with Helm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, and verify that the 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application rollout is ready.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73"/>
          <p:cNvSpPr/>
          <p:nvPr/>
        </p:nvSpPr>
        <p:spPr>
          <a:xfrm>
            <a:off x="4507920" y="3684960"/>
            <a:ext cx="32817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74"/>
          <p:cNvSpPr/>
          <p:nvPr/>
        </p:nvSpPr>
        <p:spPr>
          <a:xfrm>
            <a:off x="8302680" y="322776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50"/>
          <p:cNvSpPr/>
          <p:nvPr/>
        </p:nvSpPr>
        <p:spPr>
          <a:xfrm>
            <a:off x="548640" y="5257800"/>
            <a:ext cx="11064240" cy="360"/>
          </a:xfrm>
          <a:prstGeom prst="line">
            <a:avLst/>
          </a:prstGeom>
          <a:ln w="12700">
            <a:solidFill>
              <a:srgbClr val="C9D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78"/>
          <p:cNvSpPr/>
          <p:nvPr/>
        </p:nvSpPr>
        <p:spPr>
          <a:xfrm>
            <a:off x="548640" y="548640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Thank you — questions welcome.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79"/>
          <p:cNvSpPr/>
          <p:nvPr/>
        </p:nvSpPr>
        <p:spPr>
          <a:xfrm>
            <a:off x="457200" y="651060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Local Kubernetes Cluster (k3s) — Final Presentation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80"/>
          <p:cNvSpPr/>
          <p:nvPr/>
        </p:nvSpPr>
        <p:spPr>
          <a:xfrm>
            <a:off x="11430000" y="65106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A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2799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2026-08-08T13:19:49Z</dcterms:created>
  <dc:creator>PptxGenJS</dc:creator>
  <dc:description/>
  <dc:language>en-US</dc:language>
  <cp:lastModifiedBy/>
  <dcterms:modified xsi:type="dcterms:W3CDTF">2026-08-12T11:07:24Z</dcterms:modified>
  <cp:revision>45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