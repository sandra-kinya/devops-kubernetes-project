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2F4D6E4-1569-4109-9E70-9CE07D493F0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Welcome everyone. Today I'm presenting the final sprint of Project C — the local Kubernetes cluster project. This sprint focused on three things: getting real monitoring in place with Prometheus and Grafana, integrating a real cloud container registry with Docker Hub, and finalizing documentation. I'll walk through the architecture, show you the Helm chart structure, and then run two live demos: pulling an image from Docker Hub into the cluster, and demonstrating self-healing and scaling live on the Grafana dashboard.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B4BAF3-0903-4F7E-88D7-D1F45839B2C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 concrete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objectives for this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sprint. The key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shift from earlier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sprints is that this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one is about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proving things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work in practice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— scraping,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dashboards, and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alerts — not just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installing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software. We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also added 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genuine cloud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element with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Docker Hub, and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closed out with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full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documentation so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project is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reproducible by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someone else.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104B17-AB51-45E4-AA60-41A166F27F3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the full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picture end to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end. On the left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the flow in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words; on 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right is where I'll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drop in 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architecture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diagram we built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earlier 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showing 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whole chain from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code push,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through Docker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Hub, into the k3s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cluster, out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through Traefik to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browser, and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sideways into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Prometheus and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Grafana for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observability.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Worth noting this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a single-node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cluster acting as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both control-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plane and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worker.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C88C77-301A-489D-B144-449CF75F32A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Previously we were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importing images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directly into containerd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with docker save piped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k3s ctr images import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— that only works on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machine that built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image. Pushing to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Docker Hub means any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machine, or any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teammate, can pull 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same image. The one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config change that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matters is the pull policy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— from Never to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IfNotPresent.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88B85D-DD0C-416A-9F1A-477029370A5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One Helm install brought in five components at once. We deliberately put this in its own monitoring namespace, separate from where the app itself runs — that keeps kubectl get pods readable and means we can tear the whole monitoring stack down cleanly with one namespace delete if we ever needed to.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339A70-EFED-4943-A65B-6727F546CBA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the piece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that took 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longest to debug,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 it's worth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walking through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carefully. 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ServiceMonitor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doesn't look at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where the Service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sends traffic — it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looks at 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Service's own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label. We had 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app label on 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pod selector but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 on 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Service's own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metadata, so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Prometheus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found zero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matching targets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until we added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3A80DB-D74B-4499-86DD-7D374F52B88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 panels on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one dashboard: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custom app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metric, cluster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CPU and memory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usage, a live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request-rate view,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pod health. I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generated real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traffic before this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presentation so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graphs show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actual movement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rather than a flat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line — I'll drop 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real screenshots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here.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AF7A7A-3B64-4D3C-9B6B-30038C003C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These three tests are the actual demo I'll run live in a moment. Self-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healing and scaling both show up visibly on the Grafana dashboard as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they happen. The alert test is the most convincing one — it proves 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whole chain from a real outage to a fired alert actually works, not just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that Prometheus and Grafana are running.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FF8CC1-158D-47D5-B218-86A8A10B8B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close: the sprint delivered a working, tested monitoring stack, a real cloud registry integration, and documentation that would let someone else reproduce this from scratch. The next steps are mostly about hardening — real alert routing, private registry auth, and broader alert coverage. Happy to take questions.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FE1F7D-27BF-4CAB-ABE1-CB0B3FEBB54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9418320" y="-1645920"/>
            <a:ext cx="4571640" cy="45716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-1371600" y="4754880"/>
            <a:ext cx="3657240" cy="36572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822960" y="182880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pc="300" strike="noStrike">
                <a:solidFill>
                  <a:srgbClr val="F2994A"/>
                </a:solidFill>
                <a:effectLst/>
                <a:uFillTx/>
                <a:latin typeface="Calibri"/>
                <a:ea typeface="Calibri"/>
              </a:rPr>
              <a:t>PROJECT C – Kubernetes cluster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822960" y="2331720"/>
            <a:ext cx="96008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4399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Container deployment on K3s 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with docker hub integration &amp;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 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Monitoring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822960" y="41605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Docker Hub integration </a:t>
            </a:r>
            <a:r>
              <a:rPr lang="en-US" sz="16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en-US" sz="16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6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kube-prometheus-stack · </a:t>
            </a:r>
            <a:r>
              <a:rPr lang="en-US" sz="16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Grafana dashboards 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822960" y="4800600"/>
            <a:ext cx="2011680" cy="360"/>
          </a:xfrm>
          <a:prstGeom prst="line">
            <a:avLst/>
          </a:prstGeom>
          <a:ln w="31750">
            <a:solidFill>
              <a:srgbClr val="F299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822960" y="59436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FB3C8"/>
                </a:solidFill>
                <a:effectLst/>
                <a:uFillTx/>
                <a:latin typeface="Calibri"/>
                <a:ea typeface="Calibri"/>
              </a:rPr>
              <a:t>Pr</a:t>
            </a:r>
            <a:r>
              <a:rPr lang="en-US" sz="1400" b="0" u="none" strike="noStrike">
                <a:solidFill>
                  <a:srgbClr val="9FB3C8"/>
                </a:solidFill>
                <a:effectLst/>
                <a:uFillTx/>
                <a:latin typeface="Calibri"/>
                <a:ea typeface="Calibri"/>
              </a:rPr>
              <a:t>es</a:t>
            </a:r>
            <a:r>
              <a:rPr lang="en-US" sz="1400" b="0" u="none" strike="noStrike">
                <a:solidFill>
                  <a:srgbClr val="9FB3C8"/>
                </a:solidFill>
                <a:effectLst/>
                <a:uFillTx/>
                <a:latin typeface="Calibri"/>
                <a:ea typeface="Calibri"/>
              </a:rPr>
              <a:t>en</a:t>
            </a:r>
            <a:r>
              <a:rPr lang="en-US" sz="1400" b="0" u="none" strike="noStrike">
                <a:solidFill>
                  <a:srgbClr val="9FB3C8"/>
                </a:solidFill>
                <a:effectLst/>
                <a:uFillTx/>
                <a:latin typeface="Calibri"/>
                <a:ea typeface="Calibri"/>
              </a:rPr>
              <a:t>te</a:t>
            </a:r>
            <a:r>
              <a:rPr lang="en-US" sz="1400" b="0" u="none" strike="noStrike">
                <a:solidFill>
                  <a:srgbClr val="9FB3C8"/>
                </a:solidFill>
                <a:effectLst/>
                <a:uFillTx/>
                <a:latin typeface="Calibri"/>
                <a:ea typeface="Calibri"/>
              </a:rPr>
              <a:t>d </a:t>
            </a:r>
            <a:r>
              <a:rPr lang="en-US" sz="1400" b="0" u="none" strike="noStrike">
                <a:solidFill>
                  <a:srgbClr val="9FB3C8"/>
                </a:solidFill>
                <a:effectLst/>
                <a:uFillTx/>
                <a:latin typeface="Calibri"/>
                <a:ea typeface="Calibri"/>
              </a:rPr>
              <a:t>by 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Sa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nd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ra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Ki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ny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Gi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ku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nd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822960" y="62636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D93A8"/>
                </a:solidFill>
                <a:effectLst/>
                <a:uFillTx/>
                <a:latin typeface="Calibri"/>
                <a:ea typeface="Calibri"/>
              </a:rPr>
              <a:t>TCS DevOps Internship Program 2025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548640" y="41148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Sprint Objectives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548640" y="100584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W</a:t>
            </a: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ha</a:t>
            </a: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t </a:t>
            </a: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thi</a:t>
            </a: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s </a:t>
            </a: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spr</a:t>
            </a: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int </a:t>
            </a: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set </a:t>
            </a: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ou</a:t>
            </a: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t </a:t>
            </a: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to </a:t>
            </a: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ac</a:t>
            </a: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hie</a:t>
            </a: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ve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2"/>
          <p:cNvSpPr/>
          <p:nvPr/>
        </p:nvSpPr>
        <p:spPr>
          <a:xfrm>
            <a:off x="548640" y="1600200"/>
            <a:ext cx="5348880" cy="1416960"/>
          </a:xfrm>
          <a:prstGeom prst="rect">
            <a:avLst/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749880" y="1801440"/>
            <a:ext cx="365400" cy="3654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4"/>
          <p:cNvSpPr/>
          <p:nvPr/>
        </p:nvSpPr>
        <p:spPr>
          <a:xfrm>
            <a:off x="749880" y="18014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5"/>
          <p:cNvSpPr/>
          <p:nvPr/>
        </p:nvSpPr>
        <p:spPr>
          <a:xfrm>
            <a:off x="1280160" y="1737360"/>
            <a:ext cx="4434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Install kube-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prometheus-stack via 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Helm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6"/>
          <p:cNvSpPr/>
          <p:nvPr/>
        </p:nvSpPr>
        <p:spPr>
          <a:xfrm>
            <a:off x="1280160" y="2194560"/>
            <a:ext cx="4434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Pr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et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he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us, 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Gr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af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an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a, 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Al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ert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an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ag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er, 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an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d 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ex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po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rte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rs 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de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pl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oy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ed 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int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o 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a 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de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dic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at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ed 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`m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on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ito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rin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g` 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na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es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pa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ce.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7"/>
          <p:cNvSpPr/>
          <p:nvPr/>
        </p:nvSpPr>
        <p:spPr>
          <a:xfrm>
            <a:off x="6355080" y="1600200"/>
            <a:ext cx="5348880" cy="1416960"/>
          </a:xfrm>
          <a:prstGeom prst="rect">
            <a:avLst/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8"/>
          <p:cNvSpPr/>
          <p:nvPr/>
        </p:nvSpPr>
        <p:spPr>
          <a:xfrm>
            <a:off x="6556320" y="1801440"/>
            <a:ext cx="365400" cy="3654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9"/>
          <p:cNvSpPr/>
          <p:nvPr/>
        </p:nvSpPr>
        <p:spPr>
          <a:xfrm>
            <a:off x="6556320" y="18014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7086600" y="1737360"/>
            <a:ext cx="4434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Co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nfi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rm 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Pr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om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et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he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us 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scr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ap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es 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th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e 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ap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p's 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/m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etr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ics 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en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dp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oin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1"/>
          <p:cNvSpPr/>
          <p:nvPr/>
        </p:nvSpPr>
        <p:spPr>
          <a:xfrm>
            <a:off x="7086600" y="2194560"/>
            <a:ext cx="4434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ServiceMonitor wired to the 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app's Service, verified UP on the 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Targets page.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2"/>
          <p:cNvSpPr/>
          <p:nvPr/>
        </p:nvSpPr>
        <p:spPr>
          <a:xfrm>
            <a:off x="548640" y="3246120"/>
            <a:ext cx="5348880" cy="1416960"/>
          </a:xfrm>
          <a:prstGeom prst="rect">
            <a:avLst/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3"/>
          <p:cNvSpPr/>
          <p:nvPr/>
        </p:nvSpPr>
        <p:spPr>
          <a:xfrm>
            <a:off x="749880" y="3447360"/>
            <a:ext cx="365400" cy="365400"/>
          </a:xfrm>
          <a:prstGeom prst="ellipse">
            <a:avLst/>
          </a:prstGeom>
          <a:solidFill>
            <a:srgbClr val="F299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4"/>
          <p:cNvSpPr/>
          <p:nvPr/>
        </p:nvSpPr>
        <p:spPr>
          <a:xfrm>
            <a:off x="749880" y="344736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5"/>
          <p:cNvSpPr/>
          <p:nvPr/>
        </p:nvSpPr>
        <p:spPr>
          <a:xfrm>
            <a:off x="1280160" y="3383280"/>
            <a:ext cx="4434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Bu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ild 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Gr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af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an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a 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da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sh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bo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ar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ds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6"/>
          <p:cNvSpPr/>
          <p:nvPr/>
        </p:nvSpPr>
        <p:spPr>
          <a:xfrm>
            <a:off x="1280160" y="3840480"/>
            <a:ext cx="4434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Custom app metric, request rate, 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CPU/memory usage, pod restarts, 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and running pod count.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7"/>
          <p:cNvSpPr/>
          <p:nvPr/>
        </p:nvSpPr>
        <p:spPr>
          <a:xfrm>
            <a:off x="6355080" y="3246120"/>
            <a:ext cx="5348880" cy="1416960"/>
          </a:xfrm>
          <a:prstGeom prst="rect">
            <a:avLst/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8"/>
          <p:cNvSpPr/>
          <p:nvPr/>
        </p:nvSpPr>
        <p:spPr>
          <a:xfrm>
            <a:off x="6556320" y="3447360"/>
            <a:ext cx="365400" cy="3654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9"/>
          <p:cNvSpPr/>
          <p:nvPr/>
        </p:nvSpPr>
        <p:spPr>
          <a:xfrm>
            <a:off x="6556320" y="344736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0"/>
          <p:cNvSpPr/>
          <p:nvPr/>
        </p:nvSpPr>
        <p:spPr>
          <a:xfrm>
            <a:off x="7086600" y="3383280"/>
            <a:ext cx="4434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Test self-healing, scaling, 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and alerting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1"/>
          <p:cNvSpPr/>
          <p:nvPr/>
        </p:nvSpPr>
        <p:spPr>
          <a:xfrm>
            <a:off x="7086600" y="3840480"/>
            <a:ext cx="4434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Live validation, not just installation — proof the stack actually works.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2"/>
          <p:cNvSpPr/>
          <p:nvPr/>
        </p:nvSpPr>
        <p:spPr>
          <a:xfrm>
            <a:off x="548640" y="4892040"/>
            <a:ext cx="5348880" cy="1416960"/>
          </a:xfrm>
          <a:prstGeom prst="rect">
            <a:avLst/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3"/>
          <p:cNvSpPr/>
          <p:nvPr/>
        </p:nvSpPr>
        <p:spPr>
          <a:xfrm>
            <a:off x="749880" y="5093280"/>
            <a:ext cx="365400" cy="3654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4"/>
          <p:cNvSpPr/>
          <p:nvPr/>
        </p:nvSpPr>
        <p:spPr>
          <a:xfrm>
            <a:off x="749880" y="50932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5"/>
          <p:cNvSpPr/>
          <p:nvPr/>
        </p:nvSpPr>
        <p:spPr>
          <a:xfrm>
            <a:off x="1280160" y="5029200"/>
            <a:ext cx="4434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Integrate Docker Hub with k3s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6"/>
          <p:cNvSpPr/>
          <p:nvPr/>
        </p:nvSpPr>
        <p:spPr>
          <a:xfrm>
            <a:off x="1280160" y="5486400"/>
            <a:ext cx="4434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Replaced local-only image imports with a real cloud registry pull.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7"/>
          <p:cNvSpPr/>
          <p:nvPr/>
        </p:nvSpPr>
        <p:spPr>
          <a:xfrm>
            <a:off x="6355080" y="4892040"/>
            <a:ext cx="5348880" cy="1416960"/>
          </a:xfrm>
          <a:prstGeom prst="rect">
            <a:avLst/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8"/>
          <p:cNvSpPr/>
          <p:nvPr/>
        </p:nvSpPr>
        <p:spPr>
          <a:xfrm>
            <a:off x="6556320" y="5093280"/>
            <a:ext cx="365400" cy="365400"/>
          </a:xfrm>
          <a:prstGeom prst="ellipse">
            <a:avLst/>
          </a:prstGeom>
          <a:solidFill>
            <a:srgbClr val="F299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9"/>
          <p:cNvSpPr/>
          <p:nvPr/>
        </p:nvSpPr>
        <p:spPr>
          <a:xfrm>
            <a:off x="6556320" y="50932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30"/>
          <p:cNvSpPr/>
          <p:nvPr/>
        </p:nvSpPr>
        <p:spPr>
          <a:xfrm>
            <a:off x="7086600" y="5029200"/>
            <a:ext cx="4434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Optional tasks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1"/>
          <p:cNvSpPr/>
          <p:nvPr/>
        </p:nvSpPr>
        <p:spPr>
          <a:xfrm>
            <a:off x="7086600" y="5486400"/>
            <a:ext cx="4434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SBOM report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2"/>
          <p:cNvSpPr/>
          <p:nvPr/>
        </p:nvSpPr>
        <p:spPr>
          <a:xfrm>
            <a:off x="45720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Proj</a:t>
            </a: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ect </a:t>
            </a: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C — </a:t>
            </a: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Loca</a:t>
            </a: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l </a:t>
            </a: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Kub</a:t>
            </a: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erne</a:t>
            </a: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tes </a:t>
            </a: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Clus</a:t>
            </a: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ter </a:t>
            </a: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(k3s)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33"/>
          <p:cNvSpPr/>
          <p:nvPr/>
        </p:nvSpPr>
        <p:spPr>
          <a:xfrm>
            <a:off x="11430000" y="65106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/>
          <p:cNvPicPr/>
          <p:nvPr/>
        </p:nvPicPr>
        <p:blipFill>
          <a:blip r:embed="rId1"/>
          <a:stretch/>
        </p:blipFill>
        <p:spPr>
          <a:xfrm>
            <a:off x="3052440" y="20880"/>
            <a:ext cx="61718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27"/>
          <p:cNvSpPr/>
          <p:nvPr/>
        </p:nvSpPr>
        <p:spPr>
          <a:xfrm>
            <a:off x="548640" y="41148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Architecture Overview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37"/>
          <p:cNvSpPr/>
          <p:nvPr/>
        </p:nvSpPr>
        <p:spPr>
          <a:xfrm>
            <a:off x="548640" y="1005840"/>
            <a:ext cx="5943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How the app, k3s cluster, </a:t>
            </a:r>
            <a:r>
              <a:rPr lang="en-US" sz="13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Docker Hub, and </a:t>
            </a:r>
            <a:r>
              <a:rPr lang="en-US" sz="13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monitoring stack fit </a:t>
            </a:r>
            <a:r>
              <a:rPr lang="en-US" sz="13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together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5"/>
          <p:cNvSpPr/>
          <p:nvPr/>
        </p:nvSpPr>
        <p:spPr>
          <a:xfrm>
            <a:off x="548640" y="1874520"/>
            <a:ext cx="273960" cy="2739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8"/>
          <p:cNvSpPr/>
          <p:nvPr/>
        </p:nvSpPr>
        <p:spPr>
          <a:xfrm>
            <a:off x="548640" y="187452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Text 39"/>
          <p:cNvSpPr/>
          <p:nvPr/>
        </p:nvSpPr>
        <p:spPr>
          <a:xfrm>
            <a:off x="1005840" y="180144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Image is built locally, then </a:t>
            </a:r>
            <a:r>
              <a:rPr lang="en-US" sz="125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pushed to Docker Hub </a:t>
            </a:r>
            <a:r>
              <a:rPr lang="en-US" sz="125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(cloud registry)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1"/>
          <p:cNvSpPr/>
          <p:nvPr/>
        </p:nvSpPr>
        <p:spPr>
          <a:xfrm>
            <a:off x="548640" y="2441520"/>
            <a:ext cx="273960" cy="2739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47"/>
          <p:cNvSpPr/>
          <p:nvPr/>
        </p:nvSpPr>
        <p:spPr>
          <a:xfrm>
            <a:off x="548640" y="244152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Text 48"/>
          <p:cNvSpPr/>
          <p:nvPr/>
        </p:nvSpPr>
        <p:spPr>
          <a:xfrm>
            <a:off x="1005840" y="236844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k3s pulls the image directly from Docker Hub — no local import step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25"/>
          <p:cNvSpPr/>
          <p:nvPr/>
        </p:nvSpPr>
        <p:spPr>
          <a:xfrm>
            <a:off x="548640" y="3008520"/>
            <a:ext cx="273960" cy="2739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49"/>
          <p:cNvSpPr/>
          <p:nvPr/>
        </p:nvSpPr>
        <p:spPr>
          <a:xfrm>
            <a:off x="548640" y="300852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 50"/>
          <p:cNvSpPr/>
          <p:nvPr/>
        </p:nvSpPr>
        <p:spPr>
          <a:xfrm>
            <a:off x="1005840" y="293508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Helm facilitates the </a:t>
            </a:r>
            <a:r>
              <a:rPr lang="en-US" sz="125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Deployment, Service, </a:t>
            </a:r>
            <a:r>
              <a:rPr lang="en-US" sz="125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ConfigMap, and Ingress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9"/>
          <p:cNvSpPr/>
          <p:nvPr/>
        </p:nvSpPr>
        <p:spPr>
          <a:xfrm>
            <a:off x="548640" y="3575160"/>
            <a:ext cx="273960" cy="2739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51"/>
          <p:cNvSpPr/>
          <p:nvPr/>
        </p:nvSpPr>
        <p:spPr>
          <a:xfrm>
            <a:off x="548640" y="35751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 52"/>
          <p:cNvSpPr/>
          <p:nvPr/>
        </p:nvSpPr>
        <p:spPr>
          <a:xfrm>
            <a:off x="1005840" y="350208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Traefik Ingress routes demo.local traffic to the Service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30"/>
          <p:cNvSpPr/>
          <p:nvPr/>
        </p:nvSpPr>
        <p:spPr>
          <a:xfrm>
            <a:off x="548640" y="4142160"/>
            <a:ext cx="273960" cy="2739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53"/>
          <p:cNvSpPr/>
          <p:nvPr/>
        </p:nvSpPr>
        <p:spPr>
          <a:xfrm>
            <a:off x="548640" y="41421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 54"/>
          <p:cNvSpPr/>
          <p:nvPr/>
        </p:nvSpPr>
        <p:spPr>
          <a:xfrm>
            <a:off x="1005840" y="406908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Pro</a:t>
            </a:r>
            <a:r>
              <a:rPr lang="en-US" sz="125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me</a:t>
            </a:r>
            <a:r>
              <a:rPr lang="en-US" sz="125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the</a:t>
            </a:r>
            <a:r>
              <a:rPr lang="en-US" sz="125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us </a:t>
            </a:r>
            <a:r>
              <a:rPr lang="en-US" sz="125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scr</a:t>
            </a:r>
            <a:r>
              <a:rPr lang="en-US" sz="125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ap</a:t>
            </a:r>
            <a:r>
              <a:rPr lang="en-US" sz="125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es </a:t>
            </a:r>
            <a:r>
              <a:rPr lang="en-US" sz="125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the </a:t>
            </a:r>
            <a:r>
              <a:rPr lang="en-US" sz="125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ap</a:t>
            </a:r>
            <a:r>
              <a:rPr lang="en-US" sz="125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p's </a:t>
            </a:r>
            <a:r>
              <a:rPr lang="en-US" sz="125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/m</a:t>
            </a:r>
            <a:r>
              <a:rPr lang="en-US" sz="125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etri</a:t>
            </a:r>
            <a:r>
              <a:rPr lang="en-US" sz="125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cs </a:t>
            </a:r>
            <a:r>
              <a:rPr lang="en-US" sz="125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via </a:t>
            </a:r>
            <a:r>
              <a:rPr lang="en-US" sz="125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a </a:t>
            </a:r>
            <a:r>
              <a:rPr lang="en-US" sz="125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Ser</a:t>
            </a:r>
            <a:r>
              <a:rPr lang="en-US" sz="125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vic</a:t>
            </a:r>
            <a:r>
              <a:rPr lang="en-US" sz="125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eM</a:t>
            </a:r>
            <a:r>
              <a:rPr lang="en-US" sz="125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oni</a:t>
            </a:r>
            <a:r>
              <a:rPr lang="en-US" sz="125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tor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31"/>
          <p:cNvSpPr/>
          <p:nvPr/>
        </p:nvSpPr>
        <p:spPr>
          <a:xfrm>
            <a:off x="548640" y="4709160"/>
            <a:ext cx="273960" cy="2739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55"/>
          <p:cNvSpPr/>
          <p:nvPr/>
        </p:nvSpPr>
        <p:spPr>
          <a:xfrm>
            <a:off x="548640" y="47091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 56"/>
          <p:cNvSpPr/>
          <p:nvPr/>
        </p:nvSpPr>
        <p:spPr>
          <a:xfrm>
            <a:off x="1005840" y="463608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Grafana visualizes metrics; Alertmanager tracks alert state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32"/>
          <p:cNvSpPr/>
          <p:nvPr/>
        </p:nvSpPr>
        <p:spPr>
          <a:xfrm>
            <a:off x="6995160" y="1874520"/>
            <a:ext cx="2011320" cy="50256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57"/>
          <p:cNvSpPr/>
          <p:nvPr/>
        </p:nvSpPr>
        <p:spPr>
          <a:xfrm>
            <a:off x="6995160" y="187452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Docker Hub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33"/>
          <p:cNvSpPr/>
          <p:nvPr/>
        </p:nvSpPr>
        <p:spPr>
          <a:xfrm>
            <a:off x="8001000" y="2377440"/>
            <a:ext cx="360" cy="228600"/>
          </a:xfrm>
          <a:prstGeom prst="line">
            <a:avLst/>
          </a:prstGeom>
          <a:ln w="22225">
            <a:solidFill>
              <a:srgbClr val="1C729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34"/>
          <p:cNvSpPr/>
          <p:nvPr/>
        </p:nvSpPr>
        <p:spPr>
          <a:xfrm>
            <a:off x="6492240" y="2606040"/>
            <a:ext cx="5028840" cy="2788560"/>
          </a:xfrm>
          <a:prstGeom prst="rect">
            <a:avLst/>
          </a:prstGeom>
          <a:solidFill>
            <a:srgbClr val="EAF0F4"/>
          </a:solidFill>
          <a:ln w="190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58"/>
          <p:cNvSpPr/>
          <p:nvPr/>
        </p:nvSpPr>
        <p:spPr>
          <a:xfrm>
            <a:off x="6675120" y="26974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k3s cluster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35"/>
          <p:cNvSpPr/>
          <p:nvPr/>
        </p:nvSpPr>
        <p:spPr>
          <a:xfrm>
            <a:off x="6675120" y="3017520"/>
            <a:ext cx="2148480" cy="776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59"/>
          <p:cNvSpPr/>
          <p:nvPr/>
        </p:nvSpPr>
        <p:spPr>
          <a:xfrm>
            <a:off x="6675120" y="3072240"/>
            <a:ext cx="2148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Pod + Service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60"/>
          <p:cNvSpPr/>
          <p:nvPr/>
        </p:nvSpPr>
        <p:spPr>
          <a:xfrm>
            <a:off x="6675120" y="3401640"/>
            <a:ext cx="2148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Flask app :8085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36"/>
          <p:cNvSpPr/>
          <p:nvPr/>
        </p:nvSpPr>
        <p:spPr>
          <a:xfrm>
            <a:off x="7749360" y="3794760"/>
            <a:ext cx="360" cy="137160"/>
          </a:xfrm>
          <a:prstGeom prst="line">
            <a:avLst/>
          </a:prstGeom>
          <a:ln w="19050">
            <a:solidFill>
              <a:srgbClr val="1C729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37"/>
          <p:cNvSpPr/>
          <p:nvPr/>
        </p:nvSpPr>
        <p:spPr>
          <a:xfrm>
            <a:off x="6675120" y="3931920"/>
            <a:ext cx="2148480" cy="548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61"/>
          <p:cNvSpPr/>
          <p:nvPr/>
        </p:nvSpPr>
        <p:spPr>
          <a:xfrm>
            <a:off x="6675120" y="3931920"/>
            <a:ext cx="2148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Ingress (Traefik)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38"/>
          <p:cNvSpPr/>
          <p:nvPr/>
        </p:nvSpPr>
        <p:spPr>
          <a:xfrm>
            <a:off x="9006840" y="3017520"/>
            <a:ext cx="2331360" cy="1462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62"/>
          <p:cNvSpPr/>
          <p:nvPr/>
        </p:nvSpPr>
        <p:spPr>
          <a:xfrm>
            <a:off x="9006840" y="3200400"/>
            <a:ext cx="2331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Prometheus +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Grafana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63"/>
          <p:cNvSpPr/>
          <p:nvPr/>
        </p:nvSpPr>
        <p:spPr>
          <a:xfrm>
            <a:off x="9006840" y="388620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scrapes /metrics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39"/>
          <p:cNvSpPr/>
          <p:nvPr/>
        </p:nvSpPr>
        <p:spPr>
          <a:xfrm>
            <a:off x="8823960" y="3401280"/>
            <a:ext cx="182880" cy="360"/>
          </a:xfrm>
          <a:prstGeom prst="line">
            <a:avLst/>
          </a:prstGeom>
          <a:ln w="19050">
            <a:solidFill>
              <a:srgbClr val="F2994A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40"/>
          <p:cNvSpPr/>
          <p:nvPr/>
        </p:nvSpPr>
        <p:spPr>
          <a:xfrm>
            <a:off x="7749360" y="4480560"/>
            <a:ext cx="360" cy="1051560"/>
          </a:xfrm>
          <a:prstGeom prst="line">
            <a:avLst/>
          </a:prstGeom>
          <a:ln w="22225">
            <a:solidFill>
              <a:srgbClr val="1C729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41"/>
          <p:cNvSpPr/>
          <p:nvPr/>
        </p:nvSpPr>
        <p:spPr>
          <a:xfrm>
            <a:off x="6995160" y="5532120"/>
            <a:ext cx="2011320" cy="502560"/>
          </a:xfrm>
          <a:prstGeom prst="rect">
            <a:avLst/>
          </a:prstGeom>
          <a:solidFill>
            <a:srgbClr val="F299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64"/>
          <p:cNvSpPr/>
          <p:nvPr/>
        </p:nvSpPr>
        <p:spPr>
          <a:xfrm>
            <a:off x="6995160" y="553212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Browser / Client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65"/>
          <p:cNvSpPr/>
          <p:nvPr/>
        </p:nvSpPr>
        <p:spPr>
          <a:xfrm>
            <a:off x="45720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Project C — Local Kubernetes Cluster (k3s)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66"/>
          <p:cNvSpPr/>
          <p:nvPr/>
        </p:nvSpPr>
        <p:spPr>
          <a:xfrm>
            <a:off x="11430000" y="65106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/>
          <p:nvPr/>
        </p:nvSpPr>
        <p:spPr>
          <a:xfrm>
            <a:off x="548640" y="41148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Docker Hub Integration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"/>
          <p:cNvSpPr/>
          <p:nvPr/>
        </p:nvSpPr>
        <p:spPr>
          <a:xfrm>
            <a:off x="548640" y="100584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Build → push → pull, </a:t>
            </a: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replacing local-only image </a:t>
            </a: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imports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2"/>
          <p:cNvSpPr/>
          <p:nvPr/>
        </p:nvSpPr>
        <p:spPr>
          <a:xfrm>
            <a:off x="548640" y="1677960"/>
            <a:ext cx="2514240" cy="23770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AA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3"/>
          <p:cNvSpPr/>
          <p:nvPr/>
        </p:nvSpPr>
        <p:spPr>
          <a:xfrm>
            <a:off x="1531800" y="2240280"/>
            <a:ext cx="548280" cy="5482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4"/>
          <p:cNvSpPr/>
          <p:nvPr/>
        </p:nvSpPr>
        <p:spPr>
          <a:xfrm>
            <a:off x="1531800" y="22402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5"/>
          <p:cNvSpPr/>
          <p:nvPr/>
        </p:nvSpPr>
        <p:spPr>
          <a:xfrm>
            <a:off x="548640" y="2926080"/>
            <a:ext cx="2514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Build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6"/>
          <p:cNvSpPr/>
          <p:nvPr/>
        </p:nvSpPr>
        <p:spPr>
          <a:xfrm>
            <a:off x="685800" y="3337560"/>
            <a:ext cx="22399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ourier New"/>
                <a:ea typeface="Courier New"/>
              </a:rPr>
              <a:t>docker build -t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ourier New"/>
                <a:ea typeface="Courier New"/>
              </a:rPr>
              <a:t>sandrakinya/demo-app:v.1.0 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7"/>
          <p:cNvSpPr/>
          <p:nvPr/>
        </p:nvSpPr>
        <p:spPr>
          <a:xfrm>
            <a:off x="3063240" y="2880360"/>
            <a:ext cx="319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299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8"/>
          <p:cNvSpPr/>
          <p:nvPr/>
        </p:nvSpPr>
        <p:spPr>
          <a:xfrm>
            <a:off x="3383280" y="1641960"/>
            <a:ext cx="2514240" cy="23770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AA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9"/>
          <p:cNvSpPr/>
          <p:nvPr/>
        </p:nvSpPr>
        <p:spPr>
          <a:xfrm>
            <a:off x="4366440" y="2240280"/>
            <a:ext cx="548280" cy="5482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0"/>
          <p:cNvSpPr/>
          <p:nvPr/>
        </p:nvSpPr>
        <p:spPr>
          <a:xfrm>
            <a:off x="4366440" y="22402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1"/>
          <p:cNvSpPr/>
          <p:nvPr/>
        </p:nvSpPr>
        <p:spPr>
          <a:xfrm>
            <a:off x="3383280" y="2926080"/>
            <a:ext cx="2514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Push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2"/>
          <p:cNvSpPr/>
          <p:nvPr/>
        </p:nvSpPr>
        <p:spPr>
          <a:xfrm>
            <a:off x="3520440" y="3337560"/>
            <a:ext cx="22399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ourier New"/>
                <a:ea typeface="Courier New"/>
              </a:rPr>
              <a:t>docker push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ourier New"/>
                <a:ea typeface="Courier New"/>
              </a:rPr>
              <a:t>sandrakinya/demo-app:v.1.0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3"/>
          <p:cNvSpPr/>
          <p:nvPr/>
        </p:nvSpPr>
        <p:spPr>
          <a:xfrm>
            <a:off x="5897880" y="2880360"/>
            <a:ext cx="319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299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4"/>
          <p:cNvSpPr/>
          <p:nvPr/>
        </p:nvSpPr>
        <p:spPr>
          <a:xfrm>
            <a:off x="6217920" y="1641960"/>
            <a:ext cx="2514240" cy="23770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AA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5"/>
          <p:cNvSpPr/>
          <p:nvPr/>
        </p:nvSpPr>
        <p:spPr>
          <a:xfrm>
            <a:off x="7201080" y="2240280"/>
            <a:ext cx="548280" cy="5482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6"/>
          <p:cNvSpPr/>
          <p:nvPr/>
        </p:nvSpPr>
        <p:spPr>
          <a:xfrm>
            <a:off x="7201080" y="22402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7"/>
          <p:cNvSpPr/>
          <p:nvPr/>
        </p:nvSpPr>
        <p:spPr>
          <a:xfrm>
            <a:off x="6217920" y="2926080"/>
            <a:ext cx="2514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Pull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8"/>
          <p:cNvSpPr/>
          <p:nvPr/>
        </p:nvSpPr>
        <p:spPr>
          <a:xfrm>
            <a:off x="6355080" y="3337560"/>
            <a:ext cx="22399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ourier New"/>
                <a:ea typeface="Courier New"/>
              </a:rPr>
              <a:t>k3s pulls the image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ourier New"/>
                <a:ea typeface="Courier New"/>
              </a:rPr>
              <a:t>over the network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9"/>
          <p:cNvSpPr/>
          <p:nvPr/>
        </p:nvSpPr>
        <p:spPr>
          <a:xfrm>
            <a:off x="8732520" y="2880360"/>
            <a:ext cx="319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299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20"/>
          <p:cNvSpPr/>
          <p:nvPr/>
        </p:nvSpPr>
        <p:spPr>
          <a:xfrm>
            <a:off x="9052560" y="1641960"/>
            <a:ext cx="2514240" cy="23770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AA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1"/>
          <p:cNvSpPr/>
          <p:nvPr/>
        </p:nvSpPr>
        <p:spPr>
          <a:xfrm>
            <a:off x="10035720" y="2240280"/>
            <a:ext cx="548280" cy="5482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2"/>
          <p:cNvSpPr/>
          <p:nvPr/>
        </p:nvSpPr>
        <p:spPr>
          <a:xfrm>
            <a:off x="10035720" y="22402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3"/>
          <p:cNvSpPr/>
          <p:nvPr/>
        </p:nvSpPr>
        <p:spPr>
          <a:xfrm>
            <a:off x="9052560" y="2926080"/>
            <a:ext cx="2514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Run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4"/>
          <p:cNvSpPr/>
          <p:nvPr/>
        </p:nvSpPr>
        <p:spPr>
          <a:xfrm>
            <a:off x="9189720" y="3337560"/>
            <a:ext cx="22399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ourier New"/>
                <a:ea typeface="Courier New"/>
              </a:rPr>
              <a:t>Pod starts using the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ourier New"/>
                <a:ea typeface="Courier New"/>
              </a:rPr>
              <a:t>cloud-hosted image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5"/>
          <p:cNvSpPr/>
          <p:nvPr/>
        </p:nvSpPr>
        <p:spPr>
          <a:xfrm>
            <a:off x="548640" y="401544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Key config change:  </a:t>
            </a:r>
            <a:r>
              <a:rPr lang="en-US" sz="1300" b="0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pullPolicy: Never  →  pullPolicy: IfNotPresent values.yaml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6"/>
          <p:cNvSpPr/>
          <p:nvPr/>
        </p:nvSpPr>
        <p:spPr>
          <a:xfrm>
            <a:off x="548640" y="423720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This tells Kubernetes to pull from the registry when the image isn't already cached locally — the exact mechanism that </a:t>
            </a:r>
            <a:r>
              <a:rPr lang="en-US" sz="11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makes cloud delivery work.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9"/>
          <p:cNvSpPr/>
          <p:nvPr/>
        </p:nvSpPr>
        <p:spPr>
          <a:xfrm>
            <a:off x="45720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Project C — Local Kubernetes Cluster (k3s)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30"/>
          <p:cNvSpPr/>
          <p:nvPr/>
        </p:nvSpPr>
        <p:spPr>
          <a:xfrm>
            <a:off x="11430000" y="65106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"/>
          <p:cNvPicPr/>
          <p:nvPr/>
        </p:nvPicPr>
        <p:blipFill>
          <a:blip r:embed="rId1"/>
          <a:srcRect l="0" t="12333" r="0" b="9192"/>
          <a:stretch/>
        </p:blipFill>
        <p:spPr>
          <a:xfrm>
            <a:off x="572400" y="4785480"/>
            <a:ext cx="10929600" cy="1999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/>
          <p:nvPr/>
        </p:nvSpPr>
        <p:spPr>
          <a:xfrm>
            <a:off x="548640" y="41148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kube-prometheus-</a:t>
            </a:r>
            <a:r>
              <a:rPr lang="en-US" sz="30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stack Installation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548640" y="100584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One Helm chart, five </a:t>
            </a: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components, one </a:t>
            </a: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dedicated namespace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"/>
          <p:cNvSpPr/>
          <p:nvPr/>
        </p:nvSpPr>
        <p:spPr>
          <a:xfrm>
            <a:off x="548640" y="1828800"/>
            <a:ext cx="7863480" cy="6580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3"/>
          <p:cNvSpPr/>
          <p:nvPr/>
        </p:nvSpPr>
        <p:spPr>
          <a:xfrm>
            <a:off x="713160" y="1974960"/>
            <a:ext cx="383760" cy="3837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4"/>
          <p:cNvSpPr/>
          <p:nvPr/>
        </p:nvSpPr>
        <p:spPr>
          <a:xfrm>
            <a:off x="713160" y="19749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1280160" y="188352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Prometheus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6"/>
          <p:cNvSpPr/>
          <p:nvPr/>
        </p:nvSpPr>
        <p:spPr>
          <a:xfrm>
            <a:off x="3566160" y="1883520"/>
            <a:ext cx="4708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Collects and stores metrics from the cluster and the app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7"/>
          <p:cNvSpPr/>
          <p:nvPr/>
        </p:nvSpPr>
        <p:spPr>
          <a:xfrm>
            <a:off x="548640" y="2597040"/>
            <a:ext cx="7863480" cy="6580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8"/>
          <p:cNvSpPr/>
          <p:nvPr/>
        </p:nvSpPr>
        <p:spPr>
          <a:xfrm>
            <a:off x="713160" y="2743200"/>
            <a:ext cx="383760" cy="3837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9"/>
          <p:cNvSpPr/>
          <p:nvPr/>
        </p:nvSpPr>
        <p:spPr>
          <a:xfrm>
            <a:off x="713160" y="27432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0"/>
          <p:cNvSpPr/>
          <p:nvPr/>
        </p:nvSpPr>
        <p:spPr>
          <a:xfrm>
            <a:off x="1280160" y="265176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Grafana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1"/>
          <p:cNvSpPr/>
          <p:nvPr/>
        </p:nvSpPr>
        <p:spPr>
          <a:xfrm>
            <a:off x="3566160" y="2651760"/>
            <a:ext cx="4708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Visualizes metrics as dashboards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2"/>
          <p:cNvSpPr/>
          <p:nvPr/>
        </p:nvSpPr>
        <p:spPr>
          <a:xfrm>
            <a:off x="548640" y="3364920"/>
            <a:ext cx="7863480" cy="6580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3"/>
          <p:cNvSpPr/>
          <p:nvPr/>
        </p:nvSpPr>
        <p:spPr>
          <a:xfrm>
            <a:off x="713160" y="3511440"/>
            <a:ext cx="383760" cy="383760"/>
          </a:xfrm>
          <a:prstGeom prst="ellipse">
            <a:avLst/>
          </a:prstGeom>
          <a:solidFill>
            <a:srgbClr val="F299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4"/>
          <p:cNvSpPr/>
          <p:nvPr/>
        </p:nvSpPr>
        <p:spPr>
          <a:xfrm>
            <a:off x="713160" y="35114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5"/>
          <p:cNvSpPr/>
          <p:nvPr/>
        </p:nvSpPr>
        <p:spPr>
          <a:xfrm>
            <a:off x="1280160" y="342000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Alertmanager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6"/>
          <p:cNvSpPr/>
          <p:nvPr/>
        </p:nvSpPr>
        <p:spPr>
          <a:xfrm>
            <a:off x="3566160" y="3420000"/>
            <a:ext cx="4708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Tracks alert state — Inactive, Pending, Firing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7"/>
          <p:cNvSpPr/>
          <p:nvPr/>
        </p:nvSpPr>
        <p:spPr>
          <a:xfrm>
            <a:off x="548640" y="4133160"/>
            <a:ext cx="7863480" cy="6580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8"/>
          <p:cNvSpPr/>
          <p:nvPr/>
        </p:nvSpPr>
        <p:spPr>
          <a:xfrm>
            <a:off x="713160" y="4279320"/>
            <a:ext cx="383760" cy="3837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9"/>
          <p:cNvSpPr/>
          <p:nvPr/>
        </p:nvSpPr>
        <p:spPr>
          <a:xfrm>
            <a:off x="713160" y="42793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0"/>
          <p:cNvSpPr/>
          <p:nvPr/>
        </p:nvSpPr>
        <p:spPr>
          <a:xfrm>
            <a:off x="1280160" y="418788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e 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x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or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te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1"/>
          <p:cNvSpPr/>
          <p:nvPr/>
        </p:nvSpPr>
        <p:spPr>
          <a:xfrm>
            <a:off x="3566160" y="4187880"/>
            <a:ext cx="4708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Exposes host-level CPU/memory metrics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2"/>
          <p:cNvSpPr/>
          <p:nvPr/>
        </p:nvSpPr>
        <p:spPr>
          <a:xfrm>
            <a:off x="548640" y="4901040"/>
            <a:ext cx="7863480" cy="6580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23"/>
          <p:cNvSpPr/>
          <p:nvPr/>
        </p:nvSpPr>
        <p:spPr>
          <a:xfrm>
            <a:off x="713160" y="5047560"/>
            <a:ext cx="383760" cy="3837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4"/>
          <p:cNvSpPr/>
          <p:nvPr/>
        </p:nvSpPr>
        <p:spPr>
          <a:xfrm>
            <a:off x="713160" y="50475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5"/>
          <p:cNvSpPr/>
          <p:nvPr/>
        </p:nvSpPr>
        <p:spPr>
          <a:xfrm>
            <a:off x="1280160" y="495612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kube-state-metrics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6"/>
          <p:cNvSpPr/>
          <p:nvPr/>
        </p:nvSpPr>
        <p:spPr>
          <a:xfrm>
            <a:off x="3566160" y="4956120"/>
            <a:ext cx="4708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Exposes Kubernetes object state — pods, deployments, replicas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27"/>
          <p:cNvSpPr/>
          <p:nvPr/>
        </p:nvSpPr>
        <p:spPr>
          <a:xfrm>
            <a:off x="8686800" y="1828800"/>
            <a:ext cx="2971440" cy="384012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8"/>
          <p:cNvSpPr/>
          <p:nvPr/>
        </p:nvSpPr>
        <p:spPr>
          <a:xfrm>
            <a:off x="8915400" y="20574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FB3C8"/>
                </a:solidFill>
                <a:effectLst/>
                <a:uFillTx/>
                <a:latin typeface="Calibri"/>
                <a:ea typeface="Calibri"/>
              </a:rPr>
              <a:t>Deployed with: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9"/>
          <p:cNvSpPr/>
          <p:nvPr/>
        </p:nvSpPr>
        <p:spPr>
          <a:xfrm>
            <a:off x="8915400" y="2377440"/>
            <a:ext cx="255996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kub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ect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l 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cre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ate 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nam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esp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mon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ito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rin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hel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m 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ins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tal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l 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mon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ito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rin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met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heu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s-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com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mun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ity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/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kub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e-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met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heu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s-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sta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-n 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mon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ito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rin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30"/>
          <p:cNvSpPr/>
          <p:nvPr/>
        </p:nvSpPr>
        <p:spPr>
          <a:xfrm>
            <a:off x="8915400" y="4663440"/>
            <a:ext cx="2559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9FB3C8"/>
                </a:solidFill>
                <a:effectLst/>
                <a:uFillTx/>
                <a:latin typeface="Calibri"/>
                <a:ea typeface="Calibri"/>
              </a:rPr>
              <a:t>Isol</a:t>
            </a:r>
            <a:r>
              <a:rPr lang="en-US" sz="950" b="0" i="1" u="none" strike="noStrike">
                <a:solidFill>
                  <a:srgbClr val="9FB3C8"/>
                </a:solidFill>
                <a:effectLst/>
                <a:uFillTx/>
                <a:latin typeface="Calibri"/>
                <a:ea typeface="Calibri"/>
              </a:rPr>
              <a:t>ate</a:t>
            </a:r>
            <a:r>
              <a:rPr lang="en-US" sz="950" b="0" i="1" u="none" strike="noStrike">
                <a:solidFill>
                  <a:srgbClr val="9FB3C8"/>
                </a:solidFill>
                <a:effectLst/>
                <a:uFillTx/>
                <a:latin typeface="Calibri"/>
                <a:ea typeface="Calibri"/>
              </a:rPr>
              <a:t>d in </a:t>
            </a:r>
            <a:r>
              <a:rPr lang="en-US" sz="950" b="0" i="1" u="none" strike="noStrike">
                <a:solidFill>
                  <a:srgbClr val="9FB3C8"/>
                </a:solidFill>
                <a:effectLst/>
                <a:uFillTx/>
                <a:latin typeface="Calibri"/>
                <a:ea typeface="Calibri"/>
              </a:rPr>
              <a:t>its </a:t>
            </a:r>
            <a:r>
              <a:rPr lang="en-US" sz="950" b="0" i="1" u="none" strike="noStrike">
                <a:solidFill>
                  <a:srgbClr val="9FB3C8"/>
                </a:solidFill>
                <a:effectLst/>
                <a:uFillTx/>
                <a:latin typeface="Calibri"/>
                <a:ea typeface="Calibri"/>
              </a:rPr>
              <a:t>own </a:t>
            </a:r>
            <a:r>
              <a:rPr lang="en-US" sz="950" b="0" i="1" u="none" strike="noStrike">
                <a:solidFill>
                  <a:srgbClr val="9FB3C8"/>
                </a:solidFill>
                <a:effectLst/>
                <a:uFillTx/>
                <a:latin typeface="Calibri"/>
                <a:ea typeface="Calibri"/>
              </a:rPr>
              <a:t>na</a:t>
            </a:r>
            <a:r>
              <a:rPr lang="en-US" sz="950" b="0" i="1" u="none" strike="noStrike">
                <a:solidFill>
                  <a:srgbClr val="9FB3C8"/>
                </a:solidFill>
                <a:effectLst/>
                <a:uFillTx/>
                <a:latin typeface="Calibri"/>
                <a:ea typeface="Calibri"/>
              </a:rPr>
              <a:t>mes</a:t>
            </a:r>
            <a:r>
              <a:rPr lang="en-US" sz="950" b="0" i="1" u="none" strike="noStrike">
                <a:solidFill>
                  <a:srgbClr val="9FB3C8"/>
                </a:solidFill>
                <a:effectLst/>
                <a:uFillTx/>
                <a:latin typeface="Calibri"/>
                <a:ea typeface="Calibri"/>
              </a:rPr>
              <a:t>pac</a:t>
            </a:r>
            <a:r>
              <a:rPr lang="en-US" sz="950" b="0" i="1" u="none" strike="noStrike">
                <a:solidFill>
                  <a:srgbClr val="9FB3C8"/>
                </a:solidFill>
                <a:effectLst/>
                <a:uFillTx/>
                <a:latin typeface="Calibri"/>
                <a:ea typeface="Calibri"/>
              </a:rPr>
              <a:t>e </a:t>
            </a:r>
            <a:r>
              <a:rPr lang="en-US" sz="950" b="0" i="1" u="none" strike="noStrike">
                <a:solidFill>
                  <a:srgbClr val="9FB3C8"/>
                </a:solidFill>
                <a:effectLst/>
                <a:uFillTx/>
                <a:latin typeface="Calibri"/>
                <a:ea typeface="Calibri"/>
              </a:rPr>
              <a:t>for </a:t>
            </a:r>
            <a:r>
              <a:rPr lang="en-US" sz="950" b="0" i="1" u="none" strike="noStrike">
                <a:solidFill>
                  <a:srgbClr val="9FB3C8"/>
                </a:solidFill>
                <a:effectLst/>
                <a:uFillTx/>
                <a:latin typeface="Calibri"/>
                <a:ea typeface="Calibri"/>
              </a:rPr>
              <a:t>clea</a:t>
            </a:r>
            <a:r>
              <a:rPr lang="en-US" sz="950" b="0" i="1" u="none" strike="noStrike">
                <a:solidFill>
                  <a:srgbClr val="9FB3C8"/>
                </a:solidFill>
                <a:effectLst/>
                <a:uFillTx/>
                <a:latin typeface="Calibri"/>
                <a:ea typeface="Calibri"/>
              </a:rPr>
              <a:t>n </a:t>
            </a:r>
            <a:r>
              <a:rPr lang="en-US" sz="950" b="0" i="1" u="none" strike="noStrike">
                <a:solidFill>
                  <a:srgbClr val="9FB3C8"/>
                </a:solidFill>
                <a:effectLst/>
                <a:uFillTx/>
                <a:latin typeface="Calibri"/>
                <a:ea typeface="Calibri"/>
              </a:rPr>
              <a:t>sep</a:t>
            </a:r>
            <a:r>
              <a:rPr lang="en-US" sz="950" b="0" i="1" u="none" strike="noStrike">
                <a:solidFill>
                  <a:srgbClr val="9FB3C8"/>
                </a:solidFill>
                <a:effectLst/>
                <a:uFillTx/>
                <a:latin typeface="Calibri"/>
                <a:ea typeface="Calibri"/>
              </a:rPr>
              <a:t>arat</a:t>
            </a:r>
            <a:r>
              <a:rPr lang="en-US" sz="950" b="0" i="1" u="none" strike="noStrike">
                <a:solidFill>
                  <a:srgbClr val="9FB3C8"/>
                </a:solidFill>
                <a:effectLst/>
                <a:uFillTx/>
                <a:latin typeface="Calibri"/>
                <a:ea typeface="Calibri"/>
              </a:rPr>
              <a:t>ion </a:t>
            </a:r>
            <a:r>
              <a:rPr lang="en-US" sz="950" b="0" i="1" u="none" strike="noStrike">
                <a:solidFill>
                  <a:srgbClr val="9FB3C8"/>
                </a:solidFill>
                <a:effectLst/>
                <a:uFillTx/>
                <a:latin typeface="Calibri"/>
                <a:ea typeface="Calibri"/>
              </a:rPr>
              <a:t>fro</a:t>
            </a:r>
            <a:r>
              <a:rPr lang="en-US" sz="950" b="0" i="1" u="none" strike="noStrike">
                <a:solidFill>
                  <a:srgbClr val="9FB3C8"/>
                </a:solidFill>
                <a:effectLst/>
                <a:uFillTx/>
                <a:latin typeface="Calibri"/>
                <a:ea typeface="Calibri"/>
              </a:rPr>
              <a:t>m </a:t>
            </a:r>
            <a:r>
              <a:rPr lang="en-US" sz="950" b="0" i="1" u="none" strike="noStrike">
                <a:solidFill>
                  <a:srgbClr val="9FB3C8"/>
                </a:solidFill>
                <a:effectLst/>
                <a:uFillTx/>
                <a:latin typeface="Calibri"/>
                <a:ea typeface="Calibri"/>
              </a:rPr>
              <a:t>the </a:t>
            </a:r>
            <a:r>
              <a:rPr lang="en-US" sz="950" b="0" i="1" u="none" strike="noStrike">
                <a:solidFill>
                  <a:srgbClr val="9FB3C8"/>
                </a:solidFill>
                <a:effectLst/>
                <a:uFillTx/>
                <a:latin typeface="Calibri"/>
                <a:ea typeface="Calibri"/>
              </a:rPr>
              <a:t>app </a:t>
            </a:r>
            <a:r>
              <a:rPr lang="en-US" sz="950" b="0" i="1" u="none" strike="noStrike">
                <a:solidFill>
                  <a:srgbClr val="9FB3C8"/>
                </a:solidFill>
                <a:effectLst/>
                <a:uFillTx/>
                <a:latin typeface="Calibri"/>
                <a:ea typeface="Calibri"/>
              </a:rPr>
              <a:t>and </a:t>
            </a:r>
            <a:r>
              <a:rPr lang="en-US" sz="950" b="0" i="1" u="none" strike="noStrike">
                <a:solidFill>
                  <a:srgbClr val="9FB3C8"/>
                </a:solidFill>
                <a:effectLst/>
                <a:uFillTx/>
                <a:latin typeface="Calibri"/>
                <a:ea typeface="Calibri"/>
              </a:rPr>
              <a:t>eas</a:t>
            </a:r>
            <a:r>
              <a:rPr lang="en-US" sz="950" b="0" i="1" u="none" strike="noStrike">
                <a:solidFill>
                  <a:srgbClr val="9FB3C8"/>
                </a:solidFill>
                <a:effectLst/>
                <a:uFillTx/>
                <a:latin typeface="Calibri"/>
                <a:ea typeface="Calibri"/>
              </a:rPr>
              <a:t>y </a:t>
            </a:r>
            <a:r>
              <a:rPr lang="en-US" sz="950" b="0" i="1" u="none" strike="noStrike">
                <a:solidFill>
                  <a:srgbClr val="9FB3C8"/>
                </a:solidFill>
                <a:effectLst/>
                <a:uFillTx/>
                <a:latin typeface="Calibri"/>
                <a:ea typeface="Calibri"/>
              </a:rPr>
              <a:t>clea</a:t>
            </a:r>
            <a:r>
              <a:rPr lang="en-US" sz="950" b="0" i="1" u="none" strike="noStrike">
                <a:solidFill>
                  <a:srgbClr val="9FB3C8"/>
                </a:solidFill>
                <a:effectLst/>
                <a:uFillTx/>
                <a:latin typeface="Calibri"/>
                <a:ea typeface="Calibri"/>
              </a:rPr>
              <a:t>nup</a:t>
            </a:r>
            <a:r>
              <a:rPr lang="en-US" sz="950" b="0" i="1" u="none" strike="noStrike">
                <a:solidFill>
                  <a:srgbClr val="9FB3C8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31"/>
          <p:cNvSpPr/>
          <p:nvPr/>
        </p:nvSpPr>
        <p:spPr>
          <a:xfrm>
            <a:off x="45720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Proj</a:t>
            </a: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ect </a:t>
            </a: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C </a:t>
            </a: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— </a:t>
            </a: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Loc</a:t>
            </a: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al </a:t>
            </a: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Kub</a:t>
            </a: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ern</a:t>
            </a: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ete</a:t>
            </a: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s </a:t>
            </a: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Clu</a:t>
            </a: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ster </a:t>
            </a: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(k3</a:t>
            </a: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32"/>
          <p:cNvSpPr/>
          <p:nvPr/>
        </p:nvSpPr>
        <p:spPr>
          <a:xfrm>
            <a:off x="11430000" y="65106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 0"/>
          <p:cNvSpPr/>
          <p:nvPr/>
        </p:nvSpPr>
        <p:spPr>
          <a:xfrm>
            <a:off x="548640" y="41148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Promethe</a:t>
            </a:r>
            <a:r>
              <a:rPr lang="en-US" sz="30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us </a:t>
            </a:r>
            <a:r>
              <a:rPr lang="en-US" sz="30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Scraping </a:t>
            </a:r>
            <a:r>
              <a:rPr lang="en-US" sz="30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Configura</a:t>
            </a:r>
            <a:r>
              <a:rPr lang="en-US" sz="30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tion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"/>
          <p:cNvSpPr/>
          <p:nvPr/>
        </p:nvSpPr>
        <p:spPr>
          <a:xfrm>
            <a:off x="548640" y="100584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How ServiceMonitor discovers and scrapes /metrics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2"/>
          <p:cNvSpPr/>
          <p:nvPr/>
        </p:nvSpPr>
        <p:spPr>
          <a:xfrm>
            <a:off x="548640" y="1965960"/>
            <a:ext cx="2514240" cy="2102760"/>
          </a:xfrm>
          <a:prstGeom prst="rect">
            <a:avLst/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3"/>
          <p:cNvSpPr/>
          <p:nvPr/>
        </p:nvSpPr>
        <p:spPr>
          <a:xfrm>
            <a:off x="685800" y="214884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Service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4"/>
          <p:cNvSpPr/>
          <p:nvPr/>
        </p:nvSpPr>
        <p:spPr>
          <a:xfrm>
            <a:off x="685800" y="2651760"/>
            <a:ext cx="22399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La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bel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ed 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ap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p: 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de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o-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ap</a:t>
            </a: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p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5"/>
          <p:cNvSpPr/>
          <p:nvPr/>
        </p:nvSpPr>
        <p:spPr>
          <a:xfrm>
            <a:off x="3063240" y="2743200"/>
            <a:ext cx="411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299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6"/>
          <p:cNvSpPr/>
          <p:nvPr/>
        </p:nvSpPr>
        <p:spPr>
          <a:xfrm>
            <a:off x="3474720" y="1965960"/>
            <a:ext cx="2514240" cy="2102760"/>
          </a:xfrm>
          <a:prstGeom prst="rect">
            <a:avLst/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7"/>
          <p:cNvSpPr/>
          <p:nvPr/>
        </p:nvSpPr>
        <p:spPr>
          <a:xfrm>
            <a:off x="3611880" y="214884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ServiceMonitor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8"/>
          <p:cNvSpPr/>
          <p:nvPr/>
        </p:nvSpPr>
        <p:spPr>
          <a:xfrm>
            <a:off x="3611880" y="2651760"/>
            <a:ext cx="22399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matchLabels: app: demo-app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endpoint: /metrics, every 15s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9"/>
          <p:cNvSpPr/>
          <p:nvPr/>
        </p:nvSpPr>
        <p:spPr>
          <a:xfrm>
            <a:off x="5989320" y="2743200"/>
            <a:ext cx="411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299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0"/>
          <p:cNvSpPr/>
          <p:nvPr/>
        </p:nvSpPr>
        <p:spPr>
          <a:xfrm>
            <a:off x="6400800" y="1965960"/>
            <a:ext cx="2514240" cy="2102760"/>
          </a:xfrm>
          <a:prstGeom prst="rect">
            <a:avLst/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1"/>
          <p:cNvSpPr/>
          <p:nvPr/>
        </p:nvSpPr>
        <p:spPr>
          <a:xfrm>
            <a:off x="6537960" y="214884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Prometheus Operator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2"/>
          <p:cNvSpPr/>
          <p:nvPr/>
        </p:nvSpPr>
        <p:spPr>
          <a:xfrm>
            <a:off x="6537960" y="2651760"/>
            <a:ext cx="22399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Watches for ServiceMonitors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labeled release: monitoring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3"/>
          <p:cNvSpPr/>
          <p:nvPr/>
        </p:nvSpPr>
        <p:spPr>
          <a:xfrm>
            <a:off x="8915400" y="2743200"/>
            <a:ext cx="411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299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4"/>
          <p:cNvSpPr/>
          <p:nvPr/>
        </p:nvSpPr>
        <p:spPr>
          <a:xfrm>
            <a:off x="9326880" y="1965960"/>
            <a:ext cx="2514240" cy="210276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5"/>
          <p:cNvSpPr/>
          <p:nvPr/>
        </p:nvSpPr>
        <p:spPr>
          <a:xfrm>
            <a:off x="9464040" y="214884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Prometheus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6"/>
          <p:cNvSpPr/>
          <p:nvPr/>
        </p:nvSpPr>
        <p:spPr>
          <a:xfrm>
            <a:off x="9464040" y="2651760"/>
            <a:ext cx="22399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8E6EE"/>
                </a:solidFill>
                <a:effectLst/>
                <a:uFillTx/>
                <a:latin typeface="Calibri"/>
                <a:ea typeface="Calibri"/>
              </a:rPr>
              <a:t>Scrapes the target,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8E6EE"/>
                </a:solidFill>
                <a:effectLst/>
                <a:uFillTx/>
                <a:latin typeface="Calibri"/>
                <a:ea typeface="Calibri"/>
              </a:rPr>
              <a:t>shows status UP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7"/>
          <p:cNvSpPr/>
          <p:nvPr/>
        </p:nvSpPr>
        <p:spPr>
          <a:xfrm>
            <a:off x="548640" y="443484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Setup: 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he Service needs a </a:t>
            </a:r>
            <a:r>
              <a:rPr lang="en-US" sz="12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metadata.labels block (not </a:t>
            </a:r>
            <a:r>
              <a:rPr lang="en-US" sz="12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just spec.selector).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A ServiceMonitor matches </a:t>
            </a:r>
            <a:r>
              <a:rPr lang="en-US" sz="12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the Service's own labels, </a:t>
            </a:r>
            <a:r>
              <a:rPr lang="en-US" sz="12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not its pod selector.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8"/>
          <p:cNvSpPr/>
          <p:nvPr/>
        </p:nvSpPr>
        <p:spPr>
          <a:xfrm>
            <a:off x="548640" y="5349240"/>
            <a:ext cx="10515240" cy="1142640"/>
          </a:xfrm>
          <a:prstGeom prst="rect">
            <a:avLst/>
          </a:prstGeom>
          <a:solidFill>
            <a:srgbClr val="EAF0F4"/>
          </a:solidFill>
          <a:ln w="19050">
            <a:solidFill>
              <a:srgbClr val="C9D6DD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9"/>
          <p:cNvSpPr/>
          <p:nvPr/>
        </p:nvSpPr>
        <p:spPr>
          <a:xfrm>
            <a:off x="731520" y="5463720"/>
            <a:ext cx="101494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r>
              <a:rPr lang="en-US" sz="1200" b="1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Insert screenshot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Prometheus /targets page — demo-app-demo-app shown as UP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0"/>
          <p:cNvSpPr/>
          <p:nvPr/>
        </p:nvSpPr>
        <p:spPr>
          <a:xfrm>
            <a:off x="45720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Project C — Local Kubernetes </a:t>
            </a: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Cluster (k3s)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1"/>
          <p:cNvSpPr/>
          <p:nvPr/>
        </p:nvSpPr>
        <p:spPr>
          <a:xfrm>
            <a:off x="11430000" y="65106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9" name=""/>
          <p:cNvPicPr/>
          <p:nvPr/>
        </p:nvPicPr>
        <p:blipFill>
          <a:blip r:embed="rId1"/>
          <a:srcRect l="0" t="31378" r="0" b="43022"/>
          <a:stretch/>
        </p:blipFill>
        <p:spPr>
          <a:xfrm>
            <a:off x="72360" y="5257800"/>
            <a:ext cx="12119760" cy="159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"/>
          <p:cNvSpPr txBox="1"/>
          <p:nvPr/>
        </p:nvSpPr>
        <p:spPr>
          <a:xfrm>
            <a:off x="685800" y="3333960"/>
            <a:ext cx="2296080" cy="374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Expose metrics end point and is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labeled demo-app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685800" y="3334320"/>
            <a:ext cx="2296080" cy="374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Expose metrics end point and is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labeled demo-app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685800" y="3334320"/>
            <a:ext cx="2296080" cy="374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Expose metrics end point and  labeled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demo-app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3657600" y="3333600"/>
            <a:ext cx="2194200" cy="51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Looks for services with that label and tells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Prometheus where and how often to scrape the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metrics.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 0"/>
          <p:cNvSpPr/>
          <p:nvPr/>
        </p:nvSpPr>
        <p:spPr>
          <a:xfrm>
            <a:off x="548640" y="3657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Grafana Dashboards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"/>
          <p:cNvSpPr/>
          <p:nvPr/>
        </p:nvSpPr>
        <p:spPr>
          <a:xfrm>
            <a:off x="548640" y="9144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Live custom application metric alongside cluster resource usage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0"/>
          <p:cNvSpPr/>
          <p:nvPr/>
        </p:nvSpPr>
        <p:spPr>
          <a:xfrm>
            <a:off x="45720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Project C — Local Kubernetes Cluster </a:t>
            </a: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(k3s)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1"/>
          <p:cNvSpPr/>
          <p:nvPr/>
        </p:nvSpPr>
        <p:spPr>
          <a:xfrm>
            <a:off x="11430000" y="65106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8" name=""/>
          <p:cNvPicPr/>
          <p:nvPr/>
        </p:nvPicPr>
        <p:blipFill>
          <a:blip r:embed="rId1"/>
          <a:stretch/>
        </p:blipFill>
        <p:spPr>
          <a:xfrm>
            <a:off x="3803400" y="4343400"/>
            <a:ext cx="4343400" cy="245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9" name=""/>
          <p:cNvPicPr/>
          <p:nvPr/>
        </p:nvPicPr>
        <p:blipFill>
          <a:blip r:embed="rId2"/>
          <a:stretch/>
        </p:blipFill>
        <p:spPr>
          <a:xfrm>
            <a:off x="620640" y="1335600"/>
            <a:ext cx="10669680" cy="2926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 0"/>
          <p:cNvSpPr/>
          <p:nvPr/>
        </p:nvSpPr>
        <p:spPr>
          <a:xfrm>
            <a:off x="548640" y="3657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Testing &amp; Validation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"/>
          <p:cNvSpPr/>
          <p:nvPr/>
        </p:nvSpPr>
        <p:spPr>
          <a:xfrm>
            <a:off x="548640" y="9144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2"/>
          <p:cNvSpPr/>
          <p:nvPr/>
        </p:nvSpPr>
        <p:spPr>
          <a:xfrm>
            <a:off x="548640" y="1508760"/>
            <a:ext cx="3428640" cy="1965600"/>
          </a:xfrm>
          <a:prstGeom prst="rect">
            <a:avLst/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3"/>
          <p:cNvSpPr/>
          <p:nvPr/>
        </p:nvSpPr>
        <p:spPr>
          <a:xfrm>
            <a:off x="777240" y="1737360"/>
            <a:ext cx="456840" cy="4568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4"/>
          <p:cNvSpPr/>
          <p:nvPr/>
        </p:nvSpPr>
        <p:spPr>
          <a:xfrm>
            <a:off x="777240" y="17373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5"/>
          <p:cNvSpPr/>
          <p:nvPr/>
        </p:nvSpPr>
        <p:spPr>
          <a:xfrm>
            <a:off x="1371600" y="1737360"/>
            <a:ext cx="2422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Self-healing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6"/>
          <p:cNvSpPr/>
          <p:nvPr/>
        </p:nvSpPr>
        <p:spPr>
          <a:xfrm>
            <a:off x="777240" y="2377440"/>
            <a:ext cx="2971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Deleted a running pod — </a:t>
            </a:r>
            <a:r>
              <a:rPr lang="en-US" sz="11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Kubernetes recreated it </a:t>
            </a:r>
            <a:r>
              <a:rPr lang="en-US" sz="11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automatically within seconds.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7"/>
          <p:cNvSpPr/>
          <p:nvPr/>
        </p:nvSpPr>
        <p:spPr>
          <a:xfrm>
            <a:off x="4251960" y="1508760"/>
            <a:ext cx="3428640" cy="1965600"/>
          </a:xfrm>
          <a:prstGeom prst="rect">
            <a:avLst/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8"/>
          <p:cNvSpPr/>
          <p:nvPr/>
        </p:nvSpPr>
        <p:spPr>
          <a:xfrm>
            <a:off x="4480560" y="1737360"/>
            <a:ext cx="456840" cy="4568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9"/>
          <p:cNvSpPr/>
          <p:nvPr/>
        </p:nvSpPr>
        <p:spPr>
          <a:xfrm>
            <a:off x="4480560" y="17373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0"/>
          <p:cNvSpPr/>
          <p:nvPr/>
        </p:nvSpPr>
        <p:spPr>
          <a:xfrm>
            <a:off x="5074920" y="1737360"/>
            <a:ext cx="2422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Scaling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1"/>
          <p:cNvSpPr/>
          <p:nvPr/>
        </p:nvSpPr>
        <p:spPr>
          <a:xfrm>
            <a:off x="4480560" y="2377440"/>
            <a:ext cx="2971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Scaled from 1 → 3 replicas, confirmed all healthy, scaled back down.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2"/>
          <p:cNvSpPr/>
          <p:nvPr/>
        </p:nvSpPr>
        <p:spPr>
          <a:xfrm>
            <a:off x="7955280" y="1508760"/>
            <a:ext cx="3428640" cy="1965600"/>
          </a:xfrm>
          <a:prstGeom prst="rect">
            <a:avLst/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3"/>
          <p:cNvSpPr/>
          <p:nvPr/>
        </p:nvSpPr>
        <p:spPr>
          <a:xfrm>
            <a:off x="8183880" y="1737360"/>
            <a:ext cx="456840" cy="456840"/>
          </a:xfrm>
          <a:prstGeom prst="ellipse">
            <a:avLst/>
          </a:prstGeom>
          <a:solidFill>
            <a:srgbClr val="F299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4"/>
          <p:cNvSpPr/>
          <p:nvPr/>
        </p:nvSpPr>
        <p:spPr>
          <a:xfrm>
            <a:off x="8183880" y="17373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5"/>
          <p:cNvSpPr/>
          <p:nvPr/>
        </p:nvSpPr>
        <p:spPr>
          <a:xfrm>
            <a:off x="8778240" y="1737360"/>
            <a:ext cx="2422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Alert firing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6"/>
          <p:cNvSpPr/>
          <p:nvPr/>
        </p:nvSpPr>
        <p:spPr>
          <a:xfrm>
            <a:off x="8183880" y="2377440"/>
            <a:ext cx="2971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Scaled to 0 replicas — DemoAppPodDown alert progressed </a:t>
            </a:r>
            <a:r>
              <a:rPr lang="en-US" sz="11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Inactive → Pending → Firing.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9"/>
          <p:cNvSpPr/>
          <p:nvPr/>
        </p:nvSpPr>
        <p:spPr>
          <a:xfrm>
            <a:off x="45720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Project C — Local Kubernetes Cluster (k3s)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0"/>
          <p:cNvSpPr/>
          <p:nvPr/>
        </p:nvSpPr>
        <p:spPr>
          <a:xfrm>
            <a:off x="11430000" y="65106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9" name=""/>
          <p:cNvPicPr/>
          <p:nvPr/>
        </p:nvPicPr>
        <p:blipFill>
          <a:blip r:embed="rId1"/>
          <a:stretch/>
        </p:blipFill>
        <p:spPr>
          <a:xfrm>
            <a:off x="1636200" y="2971800"/>
            <a:ext cx="9144000" cy="3481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0"/>
          <p:cNvSpPr/>
          <p:nvPr/>
        </p:nvSpPr>
        <p:spPr>
          <a:xfrm>
            <a:off x="-1828800" y="-1828800"/>
            <a:ext cx="4571640" cy="45716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"/>
          <p:cNvSpPr/>
          <p:nvPr/>
        </p:nvSpPr>
        <p:spPr>
          <a:xfrm>
            <a:off x="640080" y="5029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Summary 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&amp; Next 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Steps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"/>
          <p:cNvSpPr/>
          <p:nvPr/>
        </p:nvSpPr>
        <p:spPr>
          <a:xfrm>
            <a:off x="640080" y="146304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2994A"/>
                </a:solidFill>
                <a:effectLst/>
                <a:uFillTx/>
                <a:latin typeface="Calibri"/>
                <a:ea typeface="Calibri"/>
              </a:rPr>
              <a:t>Completed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3"/>
          <p:cNvSpPr/>
          <p:nvPr/>
        </p:nvSpPr>
        <p:spPr>
          <a:xfrm>
            <a:off x="640080" y="1874520"/>
            <a:ext cx="521172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E6EEF3"/>
              </a:buClr>
              <a:buFont typeface="OpenSymbol"/>
              <a:buChar char="✓"/>
            </a:pPr>
            <a:r>
              <a:rPr lang="en-US" sz="1250" b="0" u="none" strike="noStrike">
                <a:solidFill>
                  <a:srgbClr val="E6EEF3"/>
                </a:solidFill>
                <a:effectLst/>
                <a:uFillTx/>
                <a:latin typeface="Calibri"/>
                <a:ea typeface="Calibri"/>
              </a:rPr>
              <a:t>Monitoring stack installed and scraping confirmed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E6EEF3"/>
              </a:buClr>
              <a:buFont typeface="OpenSymbol"/>
              <a:buChar char="✓"/>
            </a:pPr>
            <a:r>
              <a:rPr lang="en-US" sz="1250" b="0" u="none" strike="noStrike">
                <a:solidFill>
                  <a:srgbClr val="E6EEF3"/>
                </a:solidFill>
                <a:effectLst/>
                <a:uFillTx/>
                <a:latin typeface="Calibri"/>
                <a:ea typeface="Calibri"/>
              </a:rPr>
              <a:t>Grafana dashboards built (app + cluster metrics)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E6EEF3"/>
              </a:buClr>
              <a:buFont typeface="OpenSymbol"/>
              <a:buChar char="✓"/>
            </a:pPr>
            <a:r>
              <a:rPr lang="en-US" sz="1250" b="0" u="none" strike="noStrike">
                <a:solidFill>
                  <a:srgbClr val="E6EEF3"/>
                </a:solidFill>
                <a:effectLst/>
                <a:uFillTx/>
                <a:latin typeface="Calibri"/>
                <a:ea typeface="Calibri"/>
              </a:rPr>
              <a:t>Alerting configured and tested end to end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E6EEF3"/>
              </a:buClr>
              <a:buFont typeface="OpenSymbol"/>
              <a:buChar char="✓"/>
            </a:pPr>
            <a:r>
              <a:rPr lang="en-US" sz="1250" b="0" u="none" strike="noStrike">
                <a:solidFill>
                  <a:srgbClr val="E6EEF3"/>
                </a:solidFill>
                <a:effectLst/>
                <a:uFillTx/>
                <a:latin typeface="Calibri"/>
                <a:ea typeface="Calibri"/>
              </a:rPr>
              <a:t>Docker Hub integrated — real cloud registry pull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E6EEF3"/>
              </a:buClr>
              <a:buFont typeface="OpenSymbol"/>
              <a:buChar char="✓"/>
            </a:pPr>
            <a:r>
              <a:rPr lang="en-US" sz="1250" b="0" u="none" strike="noStrike">
                <a:solidFill>
                  <a:srgbClr val="E6EEF3"/>
                </a:solidFill>
                <a:effectLst/>
                <a:uFillTx/>
                <a:latin typeface="Calibri"/>
                <a:ea typeface="Calibri"/>
              </a:rPr>
              <a:t>Documentation finalized: architecture, setup, chart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4"/>
          <p:cNvSpPr/>
          <p:nvPr/>
        </p:nvSpPr>
        <p:spPr>
          <a:xfrm>
            <a:off x="6309360" y="146304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2994A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600" b="1" u="none" strike="noStrike">
                <a:solidFill>
                  <a:srgbClr val="F2994A"/>
                </a:solidFill>
                <a:effectLst/>
                <a:uFillTx/>
                <a:latin typeface="Calibri"/>
                <a:ea typeface="Calibri"/>
              </a:rPr>
              <a:t>ex</a:t>
            </a:r>
            <a:r>
              <a:rPr lang="en-US" sz="1600" b="1" u="none" strike="noStrike">
                <a:solidFill>
                  <a:srgbClr val="F2994A"/>
                </a:solidFill>
                <a:effectLst/>
                <a:uFillTx/>
                <a:latin typeface="Calibri"/>
                <a:ea typeface="Calibri"/>
              </a:rPr>
              <a:t>t </a:t>
            </a:r>
            <a:r>
              <a:rPr lang="en-US" sz="1600" b="1" u="none" strike="noStrike">
                <a:solidFill>
                  <a:srgbClr val="F2994A"/>
                </a:solidFill>
                <a:effectLst/>
                <a:uFillTx/>
                <a:latin typeface="Calibri"/>
                <a:ea typeface="Calibri"/>
              </a:rPr>
              <a:t>St</a:t>
            </a:r>
            <a:r>
              <a:rPr lang="en-US" sz="1600" b="1" u="none" strike="noStrike">
                <a:solidFill>
                  <a:srgbClr val="F2994A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600" b="1" u="none" strike="noStrike">
                <a:solidFill>
                  <a:srgbClr val="F2994A"/>
                </a:solidFill>
                <a:effectLst/>
                <a:uFillTx/>
                <a:latin typeface="Calibri"/>
                <a:ea typeface="Calibri"/>
              </a:rPr>
              <a:t>ps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5"/>
          <p:cNvSpPr/>
          <p:nvPr/>
        </p:nvSpPr>
        <p:spPr>
          <a:xfrm>
            <a:off x="6309360" y="1874520"/>
            <a:ext cx="521172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E6EEF3"/>
              </a:buClr>
              <a:buFont typeface="Symbol" charset="2"/>
              <a:buChar char=""/>
            </a:pPr>
            <a:r>
              <a:rPr lang="en-US" sz="1250" b="0" u="none" strike="noStrike">
                <a:solidFill>
                  <a:srgbClr val="E6EEF3"/>
                </a:solidFill>
                <a:effectLst/>
                <a:uFillTx/>
                <a:latin typeface="Calibri"/>
                <a:ea typeface="Calibri"/>
              </a:rPr>
              <a:t>Create a new environment (UAT or DEMO) 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E6EEF3"/>
              </a:buClr>
              <a:buFont typeface="Symbol" charset="2"/>
              <a:buChar char=""/>
            </a:pPr>
            <a:r>
              <a:rPr lang="en-US" sz="1250" b="0" u="none" strike="noStrike">
                <a:solidFill>
                  <a:srgbClr val="E6EEF3"/>
                </a:solidFill>
                <a:effectLst/>
                <a:uFillTx/>
                <a:latin typeface="Calibri"/>
                <a:ea typeface="Calibri"/>
              </a:rPr>
              <a:t>Separate environment specific configuration 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E6EEF3"/>
              </a:buClr>
              <a:buFont typeface="Symbol" charset="2"/>
              <a:buChar char=""/>
            </a:pPr>
            <a:r>
              <a:rPr lang="en-US" sz="1250" b="0" u="none" strike="noStrike">
                <a:solidFill>
                  <a:srgbClr val="E6EEF3"/>
                </a:solidFill>
                <a:effectLst/>
                <a:uFillTx/>
                <a:latin typeface="Calibri"/>
                <a:ea typeface="Calibri"/>
              </a:rPr>
              <a:t>Parameterize Helm deployments 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E6EEF3"/>
              </a:buClr>
              <a:buFont typeface="Symbol" charset="2"/>
              <a:buChar char=""/>
            </a:pPr>
            <a:r>
              <a:rPr lang="en-US" sz="1250" b="0" u="none" strike="noStrike">
                <a:solidFill>
                  <a:srgbClr val="E6EEF3"/>
                </a:solidFill>
                <a:effectLst/>
                <a:uFillTx/>
                <a:latin typeface="Calibri"/>
                <a:ea typeface="Calibri"/>
              </a:rPr>
              <a:t>Create environment specific deployment scripts 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E6EEF3"/>
              </a:buClr>
              <a:buFont typeface="Symbol" charset="2"/>
              <a:buChar char=""/>
            </a:pPr>
            <a:r>
              <a:rPr lang="en-US" sz="1250" b="0" u="none" strike="noStrike">
                <a:solidFill>
                  <a:srgbClr val="E6EEF3"/>
                </a:solidFill>
                <a:effectLst/>
                <a:uFillTx/>
                <a:latin typeface="Calibri"/>
                <a:ea typeface="Calibri"/>
              </a:rPr>
              <a:t>Verify deployments 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E6EEF3"/>
              </a:buClr>
              <a:buFont typeface="Symbol" charset="2"/>
              <a:buChar char=""/>
            </a:pPr>
            <a:r>
              <a:rPr lang="en-US" sz="1250" b="0" u="none" strike="noStrike">
                <a:solidFill>
                  <a:srgbClr val="E6EEF3"/>
                </a:solidFill>
                <a:effectLst/>
                <a:uFillTx/>
                <a:latin typeface="Calibri"/>
                <a:ea typeface="Calibri"/>
              </a:rPr>
              <a:t>Validate monitoring 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E6EEF3"/>
              </a:buClr>
              <a:buFont typeface="Symbol" charset="2"/>
              <a:buChar char=""/>
            </a:pPr>
            <a:r>
              <a:rPr lang="en-US" sz="1250" b="0" u="none" strike="noStrike">
                <a:solidFill>
                  <a:srgbClr val="E6EEF3"/>
                </a:solidFill>
                <a:effectLst/>
                <a:uFillTx/>
                <a:latin typeface="Calibri"/>
                <a:ea typeface="Calibri"/>
              </a:rPr>
              <a:t>Update the project structure 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E6EEF3"/>
              </a:buClr>
              <a:buFont typeface="Symbol" charset="2"/>
              <a:buChar char=""/>
            </a:pPr>
            <a:r>
              <a:rPr lang="en-US" sz="1250" b="0" u="none" strike="noStrike">
                <a:solidFill>
                  <a:srgbClr val="E6EEF3"/>
                </a:solidFill>
                <a:effectLst/>
                <a:uFillTx/>
                <a:latin typeface="Calibri"/>
                <a:ea typeface="Calibri"/>
              </a:rPr>
              <a:t>Eliminate vulnerabilities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6"/>
          <p:cNvSpPr/>
          <p:nvPr/>
        </p:nvSpPr>
        <p:spPr>
          <a:xfrm>
            <a:off x="640080" y="5394960"/>
            <a:ext cx="10881360" cy="360"/>
          </a:xfrm>
          <a:prstGeom prst="line">
            <a:avLst/>
          </a:prstGeom>
          <a:ln w="12700">
            <a:solidFill>
              <a:srgbClr val="3A4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7"/>
          <p:cNvSpPr/>
          <p:nvPr/>
        </p:nvSpPr>
        <p:spPr>
          <a:xfrm>
            <a:off x="640080" y="562356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Thank you — questions welcome.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1036</TotalTime>
  <Application>LibreOffice/26.2.4.2$Linux_X86_64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2026-08-04T09:11:10Z</dcterms:created>
  <dc:creator>PptxGenJS</dc:creator>
  <dc:description/>
  <dc:language>en-US</dc:language>
  <cp:lastModifiedBy/>
  <dcterms:modified xsi:type="dcterms:W3CDTF">2026-08-05T12:45:46Z</dcterms:modified>
  <cp:revision>8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